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5" r:id="rId11"/>
    <p:sldId id="280" r:id="rId12"/>
    <p:sldId id="266" r:id="rId13"/>
    <p:sldId id="276" r:id="rId14"/>
    <p:sldId id="282" r:id="rId15"/>
    <p:sldId id="281" r:id="rId16"/>
    <p:sldId id="277" r:id="rId17"/>
    <p:sldId id="278" r:id="rId18"/>
    <p:sldId id="265" r:id="rId19"/>
    <p:sldId id="267" r:id="rId20"/>
    <p:sldId id="268" r:id="rId21"/>
    <p:sldId id="269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64B"/>
    <a:srgbClr val="8A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94129" autoAdjust="0"/>
  </p:normalViewPr>
  <p:slideViewPr>
    <p:cSldViewPr snapToGrid="0" snapToObjects="1" showGuides="1">
      <p:cViewPr varScale="1">
        <p:scale>
          <a:sx n="69" d="100"/>
          <a:sy n="69" d="100"/>
        </p:scale>
        <p:origin x="-95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28535" y="572086"/>
            <a:ext cx="572555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FIXING THE GAPS</a:t>
            </a:r>
            <a:endParaRPr 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726362" y="1712742"/>
            <a:ext cx="892126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A Stakeholder-Driven Power BI Dashboard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for Resource</a:t>
            </a:r>
            <a:r>
              <a:rPr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 Allocation and School Performance in Pakistan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30348" y="2953044"/>
            <a:ext cx="64008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Business Intelligence &amp; Advanced Data Analytics — Capstone Project</a:t>
            </a:r>
            <a:endParaRPr lang="en-US" sz="1600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9516" y="5044439"/>
            <a:ext cx="1920240" cy="73152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53375"/>
            <a:ext cx="51816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Prepared for KP-IT Board Course Evaluation</a:t>
            </a:r>
            <a:endParaRPr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42624" y="4750191"/>
            <a:ext cx="196947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Shoaib</a:t>
            </a:r>
            <a:r>
              <a:rPr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 </a:t>
            </a:r>
            <a:r>
              <a:rPr sz="1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Yousaf</a:t>
            </a:r>
            <a:endParaRPr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0347" y="4791220"/>
            <a:ext cx="518160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Prepared </a:t>
            </a:r>
            <a:r>
              <a:rPr lang="en-US" b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By:</a:t>
            </a:r>
            <a:endParaRPr lang="en-US" b="1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 dirty="0"/>
              <a:t>1. Business Problem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6433" y="1083681"/>
            <a:ext cx="109728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/>
              <a:t>Why this BI solution is needed</a:t>
            </a:r>
            <a:endParaRPr 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683456" y="1770184"/>
            <a:ext cx="8257734" cy="37226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t>Education data is </a:t>
            </a:r>
            <a:r>
              <a:rPr lang="en-US" dirty="0"/>
              <a:t>fragmented across</a:t>
            </a:r>
            <a:r>
              <a:rPr dirty="0"/>
              <a:t> performance, infrastructure, geography and contextual indicators.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Decision makers</a:t>
            </a:r>
            <a:r>
              <a:rPr dirty="0"/>
              <a:t> need to identify where resource gaps are most </a:t>
            </a:r>
            <a:r>
              <a:rPr lang="en-US"/>
              <a:t>severe, not</a:t>
            </a:r>
            <a:r>
              <a:rPr dirty="0"/>
              <a:t> only view national averages.</a:t>
            </a:r>
            <a:endParaRPr dirty="0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t>Traditional tables report numbers but do not clearly prioritize districts </a:t>
            </a:r>
            <a:r>
              <a:rPr dirty="0"/>
              <a:t>for intervention.</a:t>
            </a:r>
            <a:endParaRPr dirty="0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t>The solution converts available data into an interactive </a:t>
            </a:r>
            <a:r>
              <a:rPr lang="en-US"/>
              <a:t>decision support</a:t>
            </a:r>
            <a:r>
              <a:rPr dirty="0"/>
              <a:t> </a:t>
            </a:r>
            <a:r>
              <a:t>dashboard.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074832" y="1276643"/>
            <a:ext cx="2808850" cy="1257886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95111" y="1589649"/>
            <a:ext cx="256829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2013–2016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6834" y="1957050"/>
            <a:ext cx="256829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Primary analysis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4832" y="2880360"/>
            <a:ext cx="280885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18558" y="3052689"/>
            <a:ext cx="246278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Province →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8558" y="3537321"/>
            <a:ext cx="246278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Geographic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4832" y="4343400"/>
            <a:ext cx="2808850" cy="1257886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6835" y="4457114"/>
            <a:ext cx="224004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Evidence →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6835" y="4965192"/>
            <a:ext cx="2474507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Decision-support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9144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Fixing the Gaps • BI Capstone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114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2. Project Objectives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39046" cy="2591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t>Measure education, learning and retention performance across regions.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t>Identify infrastructure deficits involving electricity, drinking water, toilets, classrooms and teachers.</a:t>
            </a: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t>Highlight gender enrollment disparities and high-risk regions.</a:t>
            </a: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t>Connect findings to specific, actionable government interventions.</a:t>
            </a: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800">
                <a:solidFill>
                  <a:srgbClr val="262626"/>
                </a:solidFill>
                <a:latin typeface="Aptos"/>
              </a:defRPr>
            </a:pPr>
            <a:r>
              <a:t>Provide executives with a consistent, interactive BI reporting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3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3. Dataset &amp; Data Sources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5F5F"/>
                </a:solidFill>
                <a:latin typeface="Aptos"/>
              </a:rPr>
              <a:t>Core educational and contextual indicators</a:t>
            </a:r>
            <a:endParaRPr sz="12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08760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65F91"/>
                </a:solidFill>
                <a:latin typeface="Aptos"/>
              </a:rPr>
              <a:t>Education</a:t>
            </a:r>
            <a:endParaRPr sz="2400" b="1">
              <a:solidFill>
                <a:srgbClr val="365F9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2203704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Enrollment, completion &amp; performance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0439" y="13716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508760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9138"/>
                </a:solidFill>
                <a:latin typeface="Aptos"/>
              </a:rPr>
              <a:t>Infrastructure</a:t>
            </a:r>
            <a:endParaRPr sz="2400" b="1">
              <a:solidFill>
                <a:srgbClr val="E6913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75887" y="1993392"/>
            <a:ext cx="2203704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Facilities, classrooms &amp; teachers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59" y="13716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508760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F825F"/>
                </a:solidFill>
                <a:latin typeface="Aptos"/>
              </a:rPr>
              <a:t>Geography</a:t>
            </a:r>
            <a:endParaRPr sz="2400" b="1">
              <a:solidFill>
                <a:srgbClr val="3F825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64807" y="1993392"/>
            <a:ext cx="2203704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Province, city/district &amp; population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98280" y="13716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508760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3449"/>
                </a:solidFill>
                <a:latin typeface="Aptos"/>
              </a:rPr>
              <a:t>Context</a:t>
            </a:r>
            <a:endParaRPr sz="24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53728" y="1993392"/>
            <a:ext cx="2203704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Budget, economic &amp; security indicators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2926080"/>
            <a:ext cx="10241280" cy="22497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</a:t>
            </a:r>
            <a:r>
              <a:rPr b="1"/>
              <a:t> Main dataset:</a:t>
            </a:r>
            <a:r>
              <a:t> Consolidated Educational / Pakistan Education Performance Dataset.</a:t>
            </a:r>
            <a:endParaRPr lang="en-US"/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</a:t>
            </a:r>
            <a:r>
              <a:rPr b="1"/>
              <a:t>Analysis period:</a:t>
            </a:r>
            <a:r>
              <a:t> 2013–2016.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Key fields include boys' and girls' enrollment, facility availability, single-teacher and single-classroom indicators.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Context fields include Global Terrorism Index</a:t>
            </a:r>
            <a:r>
              <a:rPr lang="en-US" dirty="0"/>
              <a:t> </a:t>
            </a:r>
            <a:r>
              <a:rPr dirty="0"/>
              <a:t>drone attacks, bomb blasts, economic growth and educational budget spend of GDP.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4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4. Data Preparation &amp; Quality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34940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t>Reviewed column names, data types, blanks/nulls and duplicate records.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t>Converted percentage and numeric fields to appropriate data types.</a:t>
            </a: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t>Standardized geographic and categorical values.</a:t>
            </a: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t>Created separate Time, Geography and Context dimensions.</a:t>
            </a: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t>Validated key measures using direct aggregation, filtered visual checks and cross-visual comparison.</a:t>
            </a: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t>Reviewed Year and Province filter behavior and corrected relevant model relationships.</a:t>
            </a: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t>Applied consistent formatting and conditional formatting for risk indicators.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5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5. Data Model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04002" y="790604"/>
            <a:ext cx="27432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0">
                <a:solidFill>
                  <a:srgbClr val="5F5F5F"/>
                </a:solidFill>
                <a:latin typeface="Aptos"/>
              </a:rPr>
              <a:t>Star-schema approach</a:t>
            </a:r>
            <a:endParaRPr lang="en-US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0" y="2331720"/>
            <a:ext cx="3017520" cy="1371600"/>
          </a:xfrm>
          <a:prstGeom prst="round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5146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Fact_Education_Metrics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09160" y="299923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Education + infrastructure measures</a:t>
            </a:r>
            <a:endParaRPr sz="11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65F91"/>
                </a:solidFill>
                <a:latin typeface="Aptos"/>
              </a:rPr>
              <a:t>Dim_Time</a:t>
            </a:r>
            <a:endParaRPr sz="1600" b="1">
              <a:solidFill>
                <a:srgbClr val="365F9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7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Aptos"/>
              </a:rPr>
              <a:t>Year / YearKey</a:t>
            </a:r>
            <a:endParaRPr sz="10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30529" y="1325880"/>
            <a:ext cx="2731477" cy="1109003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5087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F825F"/>
                </a:solidFill>
                <a:latin typeface="Aptos"/>
              </a:rPr>
              <a:t>Dim_Geography</a:t>
            </a:r>
            <a:endParaRPr sz="1600" b="1">
              <a:solidFill>
                <a:srgbClr val="3F825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20" y="1892807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Aptos"/>
              </a:rPr>
              <a:t>Province / City</a:t>
            </a:r>
            <a:endParaRPr sz="10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69138"/>
                </a:solidFill>
                <a:latin typeface="Aptos"/>
              </a:rPr>
              <a:t>Dim_Context</a:t>
            </a:r>
            <a:endParaRPr sz="1600" b="1">
              <a:solidFill>
                <a:srgbClr val="E6913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91032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Aptos"/>
              </a:rPr>
              <a:t>Policy / security / economy</a:t>
            </a:r>
            <a:endParaRPr sz="10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95360" y="43434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45262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3449"/>
                </a:solidFill>
                <a:latin typeface="Aptos"/>
              </a:rPr>
              <a:t>Measures</a:t>
            </a:r>
            <a:endParaRPr sz="16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20" y="491032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Aptos"/>
              </a:rPr>
              <a:t>DAX KPI calculations</a:t>
            </a:r>
            <a:endParaRPr sz="10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580644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F5F5F"/>
                </a:solidFill>
                <a:latin typeface="Aptos"/>
              </a:rPr>
              <a:t>Dimension tables filter the central fact table; measures respond to report filter context.</a:t>
            </a:r>
            <a:endParaRPr sz="13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6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  <p:cxnSp>
        <p:nvCxnSpPr>
          <p:cNvPr id="24" name="Connector: Elbow 23"/>
          <p:cNvCxnSpPr/>
          <p:nvPr/>
        </p:nvCxnSpPr>
        <p:spPr>
          <a:xfrm>
            <a:off x="3470030" y="1828799"/>
            <a:ext cx="1101969" cy="1113692"/>
          </a:xfrm>
          <a:prstGeom prst="bentConnector3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/>
          <p:cNvCxnSpPr/>
          <p:nvPr/>
        </p:nvCxnSpPr>
        <p:spPr>
          <a:xfrm flipV="1">
            <a:off x="3470028" y="3376244"/>
            <a:ext cx="1101969" cy="1441938"/>
          </a:xfrm>
          <a:prstGeom prst="bentConnector3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/>
          <p:cNvCxnSpPr/>
          <p:nvPr/>
        </p:nvCxnSpPr>
        <p:spPr>
          <a:xfrm flipH="1">
            <a:off x="7549660" y="1875690"/>
            <a:ext cx="1078522" cy="1137138"/>
          </a:xfrm>
          <a:prstGeom prst="bentConnector3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5400000">
            <a:off x="3065583" y="2316778"/>
            <a:ext cx="12895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1400" b="1"/>
              <a:t>One to many</a:t>
            </a:r>
            <a:endParaRPr lang="en-US" sz="1400" b="1"/>
          </a:p>
        </p:txBody>
      </p:sp>
      <p:sp>
        <p:nvSpPr>
          <p:cNvPr id="28" name="TextBox 27"/>
          <p:cNvSpPr txBox="1"/>
          <p:nvPr/>
        </p:nvSpPr>
        <p:spPr>
          <a:xfrm rot="16200000">
            <a:off x="3065582" y="3922839"/>
            <a:ext cx="12895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1400" b="1"/>
              <a:t>One to many</a:t>
            </a:r>
            <a:endParaRPr lang="en-US" sz="1400" b="1"/>
          </a:p>
        </p:txBody>
      </p:sp>
      <p:sp>
        <p:nvSpPr>
          <p:cNvPr id="29" name="TextBox 28"/>
          <p:cNvSpPr txBox="1"/>
          <p:nvPr/>
        </p:nvSpPr>
        <p:spPr>
          <a:xfrm rot="5400000">
            <a:off x="7684474" y="2410562"/>
            <a:ext cx="12895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1400" b="1"/>
              <a:t>One to many</a:t>
            </a:r>
            <a:endParaRPr lang="en-US" sz="1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6. KPI Framework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9332" y="1325880"/>
            <a:ext cx="28067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9332" y="1463039"/>
            <a:ext cx="280678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365F91"/>
                </a:solidFill>
                <a:latin typeface="Aptos"/>
              </a:rPr>
              <a:t>Gender Enrollment Gap</a:t>
            </a:r>
            <a:endParaRPr b="1" dirty="0">
              <a:solidFill>
                <a:srgbClr val="365F9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6999" y="2039072"/>
            <a:ext cx="24967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F5F5F"/>
                </a:solidFill>
                <a:latin typeface="Aptos"/>
              </a:rPr>
              <a:t>Boys enrollment − girls enrollment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20439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463039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69138"/>
                </a:solidFill>
                <a:latin typeface="Aptos"/>
              </a:rPr>
              <a:t>Utility Deficit Rate</a:t>
            </a:r>
            <a:endParaRPr b="1" dirty="0">
              <a:solidFill>
                <a:srgbClr val="E6913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75887" y="1947672"/>
            <a:ext cx="2367827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No-facility schools / total schools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63039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3F825F"/>
                </a:solidFill>
                <a:latin typeface="Aptos"/>
              </a:rPr>
              <a:t>Teacher Strain</a:t>
            </a:r>
            <a:endParaRPr b="1" dirty="0">
              <a:solidFill>
                <a:srgbClr val="3F825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4807" y="1947672"/>
            <a:ext cx="2285766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Single-teacher schools / primary schools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98279" y="1325880"/>
            <a:ext cx="271634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1463039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BE4B4B"/>
                </a:solidFill>
                <a:latin typeface="Aptos"/>
              </a:rPr>
              <a:t>Classroom Strain</a:t>
            </a:r>
            <a:endParaRPr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53728" y="1947672"/>
            <a:ext cx="220370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Single-classroom schools / primary schools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9332" y="3200400"/>
            <a:ext cx="28067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337560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365F91"/>
                </a:solidFill>
                <a:latin typeface="Aptos"/>
              </a:rPr>
              <a:t>Education Score</a:t>
            </a:r>
            <a:endParaRPr b="1" dirty="0">
              <a:solidFill>
                <a:srgbClr val="365F9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" y="3822191"/>
            <a:ext cx="220370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Overall education performance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20439" y="32004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3337560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E69138"/>
                </a:solidFill>
                <a:latin typeface="Aptos"/>
              </a:rPr>
              <a:t>Learning </a:t>
            </a:r>
            <a:r>
              <a:rPr b="1" dirty="0" smtClean="0">
                <a:solidFill>
                  <a:srgbClr val="E69138"/>
                </a:solidFill>
                <a:latin typeface="Aptos"/>
              </a:rPr>
              <a:t>Score</a:t>
            </a:r>
            <a:endParaRPr b="1" dirty="0">
              <a:solidFill>
                <a:srgbClr val="E6913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75887" y="3822191"/>
            <a:ext cx="220370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Learning performance indicator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09359" y="32004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3337560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3F825F"/>
                </a:solidFill>
                <a:latin typeface="Aptos"/>
              </a:rPr>
              <a:t>Retention Score</a:t>
            </a:r>
            <a:endParaRPr b="1" dirty="0">
              <a:solidFill>
                <a:srgbClr val="3F825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64807" y="3822191"/>
            <a:ext cx="220370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Retention performance indicator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98280" y="3200400"/>
            <a:ext cx="271634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3337560"/>
            <a:ext cx="22037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BE4B4B"/>
                </a:solidFill>
                <a:latin typeface="Aptos"/>
              </a:rPr>
              <a:t>Overall Risk Score</a:t>
            </a:r>
            <a:endParaRPr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53728" y="3822191"/>
            <a:ext cx="220370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Combined risk indicator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7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7. Dashboard Architecture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7218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449"/>
                </a:solidFill>
                <a:latin typeface="Aptos"/>
              </a:rPr>
              <a:t>Executive Governance Panel</a:t>
            </a:r>
            <a:endParaRPr sz="16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43400" y="1472184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High-level KPIs, education performance and governance view</a:t>
            </a:r>
            <a:endParaRPr sz="13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6090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449"/>
                </a:solidFill>
                <a:latin typeface="Aptos"/>
              </a:rPr>
              <a:t>Executive Risk &amp; Intervention</a:t>
            </a:r>
            <a:endParaRPr sz="16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2660904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Critical regions, risk scoring and priority interventions</a:t>
            </a:r>
            <a:endParaRPr sz="13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370332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4962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449"/>
                </a:solidFill>
                <a:latin typeface="Aptos"/>
              </a:rPr>
              <a:t>District Infrastructure Audit</a:t>
            </a:r>
            <a:endParaRPr sz="16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43400" y="3849624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Province/city infrastructure gaps and drill-through analysis</a:t>
            </a:r>
            <a:endParaRPr sz="13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489204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0383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449"/>
                </a:solidFill>
                <a:latin typeface="Aptos"/>
              </a:rPr>
              <a:t>Policy Impact &amp; Socio-Economic</a:t>
            </a:r>
            <a:endParaRPr sz="16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43400" y="5038344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ptos"/>
              </a:rPr>
              <a:t>Education outcomes in relation to policy and socio-economic context</a:t>
            </a:r>
            <a:endParaRPr sz="13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8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795"/>
            <a:ext cx="72923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449"/>
                </a:solidFill>
                <a:latin typeface="Aptos"/>
              </a:defRPr>
            </a:pPr>
            <a:r>
              <a:rPr dirty="0"/>
              <a:t>Dashboard 1 — </a:t>
            </a:r>
            <a:r>
              <a:rPr lang="en-US" dirty="0"/>
              <a:t>Executive Governance Panel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451414"/>
            <a:ext cx="50305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  <a:latin typeface="Aptos"/>
              </a:defRPr>
            </a:pPr>
            <a:r>
              <a:rPr lang="en-US" sz="1200" i="1" dirty="0"/>
              <a:t>Pakistan Education Performance | Government Education Governance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Fixing the Gaps • BI Capstone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15" y="679450"/>
            <a:ext cx="11354435" cy="6178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449"/>
                </a:solidFill>
                <a:latin typeface="Aptos"/>
              </a:defRPr>
            </a:pPr>
            <a:r>
              <a:rPr dirty="0"/>
              <a:t>Dashboard 1 — Executive Risk &amp; Intervention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  <a:latin typeface="Aptos"/>
              </a:defRPr>
            </a:pPr>
            <a:r>
              <a:t>Risk prioritization, critical regions and recommended government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Fixing the Gaps • BI Capstone Project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0" y="1422518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  <a:gridCol w="609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Overall View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Risk View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93358"/>
            <a:ext cx="6118720" cy="3332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818" y="1793359"/>
            <a:ext cx="5888182" cy="319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639" y="223924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449"/>
                </a:solidFill>
                <a:latin typeface="Aptos"/>
              </a:rPr>
              <a:t>10. Priority Intervention: Kohistan</a:t>
            </a:r>
            <a:endParaRPr sz="2800" b="1" dirty="0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97767" y="844680"/>
            <a:ext cx="1951947" cy="1092281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052178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BE4B4B"/>
                </a:solidFill>
                <a:latin typeface="Aptos"/>
              </a:rPr>
              <a:t>93.0%</a:t>
            </a:r>
            <a:endParaRPr sz="2400" b="1">
              <a:solidFill>
                <a:srgbClr val="BE4B4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7" y="1571980"/>
            <a:ext cx="2074751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Gender Enrollment Gap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74983" y="879850"/>
            <a:ext cx="1872665" cy="1057111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6984" y="1028732"/>
            <a:ext cx="221542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BE4B4B"/>
                </a:solidFill>
                <a:latin typeface="Aptos"/>
              </a:rPr>
              <a:t>37.89%</a:t>
            </a:r>
            <a:endParaRPr sz="2400" b="1">
              <a:solidFill>
                <a:srgbClr val="BE4B4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06984" y="1595426"/>
            <a:ext cx="2215427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F5F5F"/>
                </a:solidFill>
                <a:latin typeface="Aptos"/>
              </a:rPr>
              <a:t>Utility Deficit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95261" y="879850"/>
            <a:ext cx="1775062" cy="1057111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2093" y="1052178"/>
            <a:ext cx="216853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9138"/>
                </a:solidFill>
                <a:latin typeface="Aptos"/>
              </a:rPr>
              <a:t>28.6%</a:t>
            </a:r>
            <a:endParaRPr sz="2400" b="1">
              <a:solidFill>
                <a:srgbClr val="E6913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98309" y="1595425"/>
            <a:ext cx="226231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Single-Teacher Strain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5738" y="2195765"/>
            <a:ext cx="1943976" cy="1036055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571" y="2403263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E69138"/>
                </a:solidFill>
                <a:latin typeface="Aptos"/>
              </a:rPr>
              <a:t>20.5%</a:t>
            </a:r>
            <a:endParaRPr sz="2400" b="1" dirty="0">
              <a:solidFill>
                <a:srgbClr val="E6913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2571" y="2885664"/>
            <a:ext cx="22037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F5F5F"/>
                </a:solidFill>
                <a:latin typeface="Aptos"/>
              </a:rPr>
              <a:t>Single-Classroom Strain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74983" y="2161389"/>
            <a:ext cx="1866679" cy="1070431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6982" y="2333719"/>
            <a:ext cx="19957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365F91"/>
                </a:solidFill>
                <a:latin typeface="Aptos"/>
              </a:rPr>
              <a:t>42.1</a:t>
            </a:r>
            <a:endParaRPr sz="2400" b="1" dirty="0">
              <a:solidFill>
                <a:srgbClr val="365F9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06982" y="2909905"/>
            <a:ext cx="19957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F5F5F"/>
                </a:solidFill>
                <a:latin typeface="Aptos"/>
              </a:rPr>
              <a:t>Learning Score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395262" y="2126221"/>
            <a:ext cx="1775062" cy="11056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8985" y="2333719"/>
            <a:ext cx="13457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BE4B4B"/>
                </a:solidFill>
                <a:latin typeface="Aptos"/>
              </a:rPr>
              <a:t>30.0</a:t>
            </a:r>
            <a:endParaRPr sz="2400"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27262" y="2780951"/>
            <a:ext cx="2003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F5F5F"/>
                </a:solidFill>
                <a:latin typeface="Aptos"/>
              </a:rPr>
              <a:t>Retention Score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8682" y="3456248"/>
            <a:ext cx="246184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 dirty="0">
                <a:solidFill>
                  <a:srgbClr val="1F3449"/>
                </a:solidFill>
                <a:latin typeface="Aptos"/>
              </a:rPr>
              <a:t>Why it matters</a:t>
            </a:r>
            <a:endParaRPr lang="en-US" sz="2000" b="1" dirty="0">
              <a:solidFill>
                <a:srgbClr val="1F3449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8682" y="3945623"/>
            <a:ext cx="712985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dirty="0">
                <a:solidFill>
                  <a:srgbClr val="262626"/>
                </a:solidFill>
                <a:latin typeface="Aptos"/>
              </a:rPr>
              <a:t>Kohistan is supported by multiple risk indicators simultaneously, making it a strong priority case rather than one based on a single KPI.</a:t>
            </a:r>
            <a:endParaRPr lang="en-US" sz="1600" dirty="0">
              <a:solidFill>
                <a:srgbClr val="262626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11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953" y="706425"/>
            <a:ext cx="5755148" cy="3262400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V="1">
            <a:off x="10392306" y="1812456"/>
            <a:ext cx="298450" cy="157094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29" y="4579401"/>
            <a:ext cx="10653410" cy="1802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1660" y="71810"/>
            <a:ext cx="70684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449"/>
                </a:solidFill>
                <a:latin typeface="Aptos"/>
              </a:defRPr>
            </a:pPr>
            <a:r>
              <a:rPr dirty="0"/>
              <a:t>Dashboard 2 — </a:t>
            </a:r>
            <a:r>
              <a:rPr lang="en-US" dirty="0"/>
              <a:t>District Infrastructure Audit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9948" y="537598"/>
            <a:ext cx="28248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  <a:latin typeface="Aptos"/>
              </a:defRPr>
            </a:pPr>
            <a:r>
              <a:rPr lang="en-US" sz="1200" i="1" dirty="0"/>
              <a:t>Infrastructure, Facilities &amp; Staffing Risk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Fixing the Gaps • BI Capstone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916940"/>
            <a:ext cx="10960100" cy="5941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1660" y="154940"/>
            <a:ext cx="70684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449"/>
                </a:solidFill>
                <a:latin typeface="Aptos"/>
              </a:defRPr>
            </a:pPr>
            <a:r>
              <a:rPr dirty="0"/>
              <a:t>Dashboard 2 — </a:t>
            </a:r>
            <a:r>
              <a:rPr lang="en-US" dirty="0"/>
              <a:t>District Infrastructure Audit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9948" y="676148"/>
            <a:ext cx="28248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  <a:latin typeface="Aptos"/>
              </a:defRPr>
            </a:pPr>
            <a:r>
              <a:rPr lang="en-US" sz="1200" i="1" dirty="0"/>
              <a:t>Infrastructure, Facilities &amp; Staffing Risk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Fixing the Gaps • BI Capstone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403" y="1194704"/>
            <a:ext cx="2768635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850" y="1331864"/>
            <a:ext cx="230617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3F825F"/>
                </a:solidFill>
                <a:latin typeface="Aptos"/>
              </a:rPr>
              <a:t>ICT</a:t>
            </a:r>
            <a:endParaRPr sz="2400" b="1" dirty="0">
              <a:solidFill>
                <a:srgbClr val="3F825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850" y="1816496"/>
            <a:ext cx="248034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 smtClean="0">
                <a:solidFill>
                  <a:srgbClr val="5F5F5F"/>
                </a:solidFill>
                <a:latin typeface="Aptos"/>
              </a:rPr>
              <a:t>98.33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Electricity 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• </a:t>
            </a:r>
            <a:r>
              <a:rPr lang="en-US" sz="1100" dirty="0">
                <a:solidFill>
                  <a:srgbClr val="5F5F5F"/>
                </a:solidFill>
                <a:latin typeface="Aptos"/>
              </a:rPr>
              <a:t>9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4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.32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 Drinking Water 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•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96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.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83</a:t>
            </a:r>
            <a:r>
              <a:rPr lang="en-US" sz="1100" dirty="0">
                <a:solidFill>
                  <a:srgbClr val="5F5F5F"/>
                </a:solidFill>
                <a:latin typeface="Aptos"/>
              </a:rPr>
              <a:t>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Toilets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37492" y="2535633"/>
            <a:ext cx="28267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4072" y="2672793"/>
            <a:ext cx="199016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365F91"/>
                </a:solidFill>
                <a:latin typeface="Aptos"/>
              </a:rPr>
              <a:t>Punjab</a:t>
            </a:r>
            <a:endParaRPr sz="2400" b="1" dirty="0">
              <a:solidFill>
                <a:srgbClr val="365F9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76871" y="3937805"/>
            <a:ext cx="30298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32319" y="4074965"/>
            <a:ext cx="230617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9138"/>
                </a:solidFill>
                <a:latin typeface="Aptos"/>
              </a:rPr>
              <a:t>Sindh</a:t>
            </a:r>
            <a:endParaRPr sz="2400" b="1">
              <a:solidFill>
                <a:srgbClr val="E69138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375257" y="5282674"/>
            <a:ext cx="301317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3313" y="5419834"/>
            <a:ext cx="298384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BE4B4B"/>
                </a:solidFill>
                <a:latin typeface="Aptos"/>
              </a:rPr>
              <a:t>Balochistan</a:t>
            </a:r>
            <a:endParaRPr sz="2400"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7256" y="4544413"/>
            <a:ext cx="248034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 smtClean="0">
                <a:solidFill>
                  <a:srgbClr val="5F5F5F"/>
                </a:solidFill>
                <a:latin typeface="Aptos"/>
              </a:rPr>
              <a:t>44.19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Electricity 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• 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52.78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 Drinking Water 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• 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59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.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0</a:t>
            </a:r>
            <a:r>
              <a:rPr lang="en-US" sz="1100" dirty="0">
                <a:solidFill>
                  <a:srgbClr val="5F5F5F"/>
                </a:solidFill>
                <a:latin typeface="Aptos"/>
              </a:rPr>
              <a:t>4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Toilets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31462" y="3084273"/>
            <a:ext cx="248034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 smtClean="0">
                <a:solidFill>
                  <a:srgbClr val="5F5F5F"/>
                </a:solidFill>
                <a:latin typeface="Aptos"/>
              </a:rPr>
              <a:t>75.35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Electricity 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• 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94.13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 Drinking Water 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• 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87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.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66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Toilets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99221" y="5824134"/>
            <a:ext cx="248034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 smtClean="0">
                <a:solidFill>
                  <a:srgbClr val="5F5F5F"/>
                </a:solidFill>
                <a:latin typeface="Aptos"/>
              </a:rPr>
              <a:t>26.55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Electricity 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• 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41.28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Drinking Water 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• 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22</a:t>
            </a:r>
            <a:r>
              <a:rPr sz="1100" b="0" dirty="0" smtClean="0">
                <a:solidFill>
                  <a:srgbClr val="5F5F5F"/>
                </a:solidFill>
                <a:latin typeface="Aptos"/>
              </a:rPr>
              <a:t>.</a:t>
            </a:r>
            <a:r>
              <a:rPr lang="en-US" sz="1100" dirty="0" smtClean="0">
                <a:solidFill>
                  <a:srgbClr val="5F5F5F"/>
                </a:solidFill>
                <a:latin typeface="Aptos"/>
              </a:rPr>
              <a:t>34 </a:t>
            </a:r>
            <a:r>
              <a:rPr lang="en-US" sz="1100" b="0" dirty="0" smtClean="0">
                <a:solidFill>
                  <a:srgbClr val="5F5F5F"/>
                </a:solidFill>
                <a:latin typeface="Aptos"/>
              </a:rPr>
              <a:t>Toilets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449"/>
                </a:solidFill>
                <a:latin typeface="Aptos"/>
              </a:defRPr>
            </a:pPr>
            <a:r>
              <a:t>Dashboard 2 — District Infrastructure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  <a:latin typeface="Aptos"/>
              </a:defRPr>
            </a:pPr>
            <a:r>
              <a:rPr dirty="0"/>
              <a:t>Infrastructure deficits, utility gaps and district investment priorities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Fixing the Gaps • BI Capstone Project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01" y="1161288"/>
            <a:ext cx="10399917" cy="569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4505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449"/>
                </a:solidFill>
                <a:latin typeface="Aptos"/>
              </a:defRPr>
            </a:pPr>
            <a:r>
              <a:rPr dirty="0"/>
              <a:t>Dashboard 3 — Policy Impact &amp; Socio-Economic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508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  <a:latin typeface="Aptos"/>
              </a:defRPr>
            </a:pPr>
            <a:r>
              <a:rPr dirty="0"/>
              <a:t>Education outcomes viewed alongside policy and socio-economic context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Fixing the Gaps • BI Capstone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62330"/>
            <a:ext cx="10971530" cy="5995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200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449"/>
                </a:solidFill>
                <a:latin typeface="Aptos"/>
              </a:defRPr>
            </a:pPr>
            <a:r>
              <a:rPr dirty="0"/>
              <a:t>Dashboard 4 — Policy Impact &amp; Socio-Economic Analysis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584064"/>
            <a:ext cx="583685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  <a:latin typeface="Aptos"/>
              </a:defRPr>
            </a:pPr>
            <a:r>
              <a:rPr sz="1400" dirty="0"/>
              <a:t>Interactive analysis view with anomaly and intervention-oriented visuals</a:t>
            </a:r>
            <a:endParaRPr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  <a:latin typeface="Aptos"/>
              </a:defRPr>
            </a:pPr>
            <a:r>
              <a:t>Fixing the Gaps • BI Capstone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" y="994410"/>
            <a:ext cx="10765790" cy="5863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3734" y="647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449"/>
                </a:solidFill>
                <a:latin typeface="Aptos"/>
              </a:rPr>
              <a:t>9. Trends &amp; Anomalies</a:t>
            </a:r>
            <a:endParaRPr sz="2800" b="1" dirty="0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5747" y="732975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1195" y="870135"/>
            <a:ext cx="30723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3F825F"/>
                </a:solidFill>
                <a:latin typeface="Aptos"/>
              </a:rPr>
              <a:t>AJK: 66.2 → 78.1</a:t>
            </a:r>
            <a:endParaRPr sz="2400" b="1" dirty="0">
              <a:solidFill>
                <a:srgbClr val="3F825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1195" y="1354767"/>
            <a:ext cx="307238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Education score, 2013 to 2016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3347" y="732975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8795" y="870135"/>
            <a:ext cx="30723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365F91"/>
                </a:solidFill>
                <a:latin typeface="Aptos"/>
              </a:rPr>
              <a:t>Sindh: 48.9 → 61.7 → 56.2 → 56.9</a:t>
            </a:r>
            <a:endParaRPr sz="2400" b="1" dirty="0">
              <a:solidFill>
                <a:srgbClr val="365F9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83882" y="1661090"/>
            <a:ext cx="307238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F5F5F"/>
                </a:solidFill>
                <a:latin typeface="Aptos"/>
              </a:rPr>
              <a:t>2013–2016; 2014 gain not sustained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0947" y="732975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6395" y="870135"/>
            <a:ext cx="307238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BE4B4B"/>
                </a:solidFill>
                <a:latin typeface="Aptos"/>
              </a:rPr>
              <a:t>Balochistan</a:t>
            </a:r>
            <a:r>
              <a:rPr sz="2000" b="1" dirty="0">
                <a:solidFill>
                  <a:srgbClr val="BE4B4B"/>
                </a:solidFill>
                <a:latin typeface="Aptos"/>
              </a:rPr>
              <a:t>: 49.8 → 57.2 → 50.8 → 46.1</a:t>
            </a:r>
            <a:endParaRPr sz="2000"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12537" y="1609494"/>
            <a:ext cx="307238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F5F5F"/>
                </a:solidFill>
                <a:latin typeface="Aptos"/>
              </a:rPr>
              <a:t>Improvement reversed after 2014</a:t>
            </a:r>
            <a:endParaRPr sz="11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5748" y="2351381"/>
            <a:ext cx="3227832" cy="363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rPr dirty="0"/>
              <a:t>• AJK shows sustained improvement across the analysis period.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rPr dirty="0"/>
              <a:t>• Sindh shows a sharp 2014 improvement followed by a decline and slight recovery.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Balochistan's</a:t>
            </a:r>
            <a:r>
              <a:rPr dirty="0"/>
              <a:t> post-2014 decline is a key anomaly requiring investigation.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Sudhnoti</a:t>
            </a:r>
            <a:r>
              <a:rPr dirty="0"/>
              <a:t> shows that high infrastructure deficit does not automatically imply low retention, so local context matters.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10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250" y="2253615"/>
            <a:ext cx="8286750" cy="4604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11. District Infrastructure Evidence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36220" y="876105"/>
            <a:ext cx="3383280" cy="1346395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9100" y="995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 err="1">
                <a:solidFill>
                  <a:srgbClr val="1F3449"/>
                </a:solidFill>
                <a:latin typeface="Aptos"/>
              </a:rPr>
              <a:t>Tharparkar</a:t>
            </a:r>
            <a:endParaRPr sz="1800" b="1" dirty="0">
              <a:solidFill>
                <a:srgbClr val="1F344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9100" y="1422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BE4B4B"/>
                </a:solidFill>
                <a:latin typeface="Aptos"/>
              </a:rPr>
              <a:t>52.89% No Facility</a:t>
            </a:r>
            <a:endParaRPr sz="1300"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100" y="1788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5F5F"/>
                </a:solidFill>
                <a:latin typeface="Aptos"/>
              </a:rPr>
              <a:t>33.1 Retention</a:t>
            </a:r>
            <a:endParaRPr sz="12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85259" y="863600"/>
            <a:ext cx="3383280" cy="13589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8140" y="10088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 err="1">
                <a:solidFill>
                  <a:srgbClr val="1F3449"/>
                </a:solidFill>
                <a:latin typeface="Aptos"/>
              </a:rPr>
              <a:t>Thatta</a:t>
            </a:r>
            <a:endParaRPr sz="1800" b="1" dirty="0">
              <a:solidFill>
                <a:srgbClr val="1F344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68140" y="13980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BE4B4B"/>
                </a:solidFill>
                <a:latin typeface="Aptos"/>
              </a:rPr>
              <a:t>44.42% No Facility</a:t>
            </a:r>
            <a:endParaRPr sz="1300"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8140" y="1811137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5F5F"/>
                </a:solidFill>
                <a:latin typeface="Aptos"/>
              </a:rPr>
              <a:t>24.3 Retention</a:t>
            </a:r>
            <a:endParaRPr sz="12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34300" y="863600"/>
            <a:ext cx="3383280" cy="13589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17180" y="995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F3449"/>
                </a:solidFill>
                <a:latin typeface="Aptos"/>
              </a:rPr>
              <a:t>Haveli</a:t>
            </a:r>
            <a:endParaRPr sz="1800" b="1" dirty="0">
              <a:solidFill>
                <a:srgbClr val="1F344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7180" y="13980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BE4B4B"/>
                </a:solidFill>
                <a:latin typeface="Aptos"/>
              </a:rPr>
              <a:t>56.69% No Facility</a:t>
            </a:r>
            <a:endParaRPr sz="1300"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17180" y="177635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5F5F"/>
                </a:solidFill>
                <a:latin typeface="Aptos"/>
              </a:rPr>
              <a:t>55.6 Retention</a:t>
            </a:r>
            <a:endParaRPr sz="12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6220" y="2336800"/>
            <a:ext cx="3383280" cy="1272931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100" y="2519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F3449"/>
                </a:solidFill>
                <a:latin typeface="Aptos"/>
              </a:rPr>
              <a:t>Hattian</a:t>
            </a:r>
            <a:endParaRPr sz="1800" b="1" dirty="0">
              <a:solidFill>
                <a:srgbClr val="1F344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9100" y="28575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BE4B4B"/>
                </a:solidFill>
                <a:latin typeface="Aptos"/>
              </a:rPr>
              <a:t>53.74% No Facility</a:t>
            </a:r>
            <a:endParaRPr sz="1300" b="1" dirty="0">
              <a:solidFill>
                <a:srgbClr val="BE4B4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9100" y="31724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5F5F"/>
                </a:solidFill>
                <a:latin typeface="Aptos"/>
              </a:rPr>
              <a:t>55.6 Retention</a:t>
            </a:r>
            <a:endParaRPr sz="12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985259" y="2336800"/>
            <a:ext cx="3383280" cy="1272931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8140" y="2519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449"/>
                </a:solidFill>
                <a:latin typeface="Aptos"/>
              </a:rPr>
              <a:t>Sudhnoti</a:t>
            </a:r>
            <a:endParaRPr sz="1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8140" y="28575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E4B4B"/>
                </a:solidFill>
                <a:latin typeface="Aptos"/>
              </a:rPr>
              <a:t>50.16% No Facility</a:t>
            </a:r>
            <a:endParaRPr sz="1300" b="1">
              <a:solidFill>
                <a:srgbClr val="BE4B4B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68140" y="31724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5F5F"/>
                </a:solidFill>
                <a:latin typeface="Aptos"/>
              </a:rPr>
              <a:t>85.4 Retention</a:t>
            </a:r>
            <a:endParaRPr sz="12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34300" y="2336800"/>
            <a:ext cx="3383280" cy="1272931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2976" y="3650371"/>
            <a:ext cx="2902491" cy="1781775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17180" y="2519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449"/>
                </a:solidFill>
                <a:latin typeface="Aptos"/>
              </a:rPr>
              <a:t>Tor Ghar</a:t>
            </a:r>
            <a:endParaRPr sz="1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17180" y="28575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E4B4B"/>
                </a:solidFill>
                <a:latin typeface="Aptos"/>
              </a:rPr>
              <a:t>43.64% No Facility</a:t>
            </a:r>
            <a:endParaRPr sz="1300" b="1">
              <a:solidFill>
                <a:srgbClr val="BE4B4B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17180" y="31724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5F5F"/>
                </a:solidFill>
                <a:latin typeface="Aptos"/>
              </a:rPr>
              <a:t>51.0 Retention</a:t>
            </a:r>
            <a:endParaRPr sz="1200" b="0" dirty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12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9100" y="4309399"/>
            <a:ext cx="2719611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dirty="0">
                <a:solidFill>
                  <a:srgbClr val="262626"/>
                </a:solidFill>
                <a:latin typeface="Aptos"/>
              </a:rPr>
              <a:t>Similar infrastructure deficits can coexist with very different outcomes, so interventions should be district-specific.</a:t>
            </a:r>
            <a:endParaRPr sz="1400" dirty="0">
              <a:solidFill>
                <a:srgbClr val="262626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9100" y="3942032"/>
            <a:ext cx="244021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 smtClean="0">
                <a:solidFill>
                  <a:srgbClr val="1F3449"/>
                </a:solidFill>
                <a:latin typeface="Aptos"/>
              </a:rPr>
              <a:t>KEY INSIGHTS</a:t>
            </a:r>
            <a:endParaRPr sz="1800" b="1" dirty="0">
              <a:solidFill>
                <a:srgbClr val="1F3449"/>
              </a:solidFill>
              <a:latin typeface="Aptos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224" y="3689825"/>
            <a:ext cx="8601231" cy="2115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4" name="Straight Arrow Connector 33"/>
          <p:cNvCxnSpPr/>
          <p:nvPr/>
        </p:nvCxnSpPr>
        <p:spPr>
          <a:xfrm flipH="1">
            <a:off x="2885438" y="3942032"/>
            <a:ext cx="566786" cy="3673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12. Policy Impact &amp; Socio-Economic Analysis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8268" y="1566985"/>
            <a:ext cx="6858000" cy="30546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rPr dirty="0"/>
              <a:t>Compares education outcomes with contextual indicators such as educational budget, economic growth and security-related measures.</a:t>
            </a:r>
            <a:endParaRPr lang="en-US" dirty="0"/>
          </a:p>
          <a:p>
            <a:pPr marL="342900" indent="-342900"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rPr dirty="0"/>
              <a:t>Educational budget is treated as a national-level indicator; therefore it responds to Year but is not expected to change with a Province slicer.</a:t>
            </a:r>
            <a:endParaRPr dirty="0"/>
          </a:p>
          <a:p>
            <a:pPr marL="342900" indent="-342900"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rPr dirty="0"/>
              <a:t>The analysis reveals associations and patterns; it does not claim that one contextual variable directly causes an education outcome.</a:t>
            </a:r>
            <a:endParaRPr dirty="0"/>
          </a:p>
          <a:p>
            <a:pPr marL="342900" indent="-342900">
              <a:spcAft>
                <a:spcPts val="900"/>
              </a:spcAft>
              <a:buAutoNum type="arabicPeriod"/>
              <a:defRPr sz="1700">
                <a:solidFill>
                  <a:srgbClr val="262626"/>
                </a:solidFill>
                <a:latin typeface="Aptos"/>
              </a:defRPr>
            </a:pPr>
            <a:r>
              <a:rPr dirty="0"/>
              <a:t>Province and district comparisons show where national policy context is associated with different local outcomes.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955279" y="1463040"/>
            <a:ext cx="3017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7" y="1600200"/>
            <a:ext cx="27066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3449"/>
                </a:solidFill>
                <a:latin typeface="Aptos"/>
              </a:rPr>
              <a:t>National Budget</a:t>
            </a:r>
            <a:endParaRPr sz="24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10727" y="2084832"/>
            <a:ext cx="2706624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Year-sensitive context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55279" y="2834640"/>
            <a:ext cx="3017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7" y="2983171"/>
            <a:ext cx="27066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365F91"/>
                </a:solidFill>
                <a:latin typeface="Aptos"/>
              </a:rPr>
              <a:t>Regional Outcomes</a:t>
            </a:r>
            <a:endParaRPr sz="2000" b="1" dirty="0">
              <a:solidFill>
                <a:srgbClr val="365F9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10727" y="3456432"/>
            <a:ext cx="2706624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Province/city comparison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5279" y="4206240"/>
            <a:ext cx="3017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4343400"/>
            <a:ext cx="27066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9138"/>
                </a:solidFill>
                <a:latin typeface="Aptos"/>
              </a:rPr>
              <a:t>Decision Lens</a:t>
            </a:r>
            <a:endParaRPr sz="2400" b="1">
              <a:solidFill>
                <a:srgbClr val="E6913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10727" y="4828031"/>
            <a:ext cx="2706624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Policy → evidence → action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13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13. Recommended Government Actions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51560" cy="530352"/>
          </a:xfrm>
          <a:prstGeom prst="round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HIGH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03120" y="1280160"/>
            <a:ext cx="90525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362456"/>
            <a:ext cx="8549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Prioritize integrated interventions in Kohistan and other critical regions: facilities + teachers + classrooms + gender participation.</a:t>
            </a:r>
            <a:endParaRPr sz="1300" b="0">
              <a:solidFill>
                <a:srgbClr val="26262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450591"/>
            <a:ext cx="1051560" cy="530352"/>
          </a:xfrm>
          <a:prstGeom prst="round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0591"/>
            <a:ext cx="1051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HIGH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03120" y="2450591"/>
            <a:ext cx="90525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532887"/>
            <a:ext cx="8549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Target Sindh and Balochistan districts where high no-facility rates coincide with weak learning and retention.</a:t>
            </a:r>
            <a:endParaRPr sz="1300" b="0">
              <a:solidFill>
                <a:srgbClr val="262626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3621024"/>
            <a:ext cx="1051560" cy="530352"/>
          </a:xfrm>
          <a:prstGeom prst="round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21024"/>
            <a:ext cx="1051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MEDIUM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03120" y="3621024"/>
            <a:ext cx="90525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3703320"/>
            <a:ext cx="8549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Study high-performing/improving regions such as ICT and AJK to identify practices that can be adapted elsewhere.</a:t>
            </a:r>
            <a:endParaRPr sz="1300" b="0">
              <a:solidFill>
                <a:srgbClr val="262626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4791456"/>
            <a:ext cx="1051560" cy="530352"/>
          </a:xfrm>
          <a:prstGeom prst="round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91456"/>
            <a:ext cx="1051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MEDIUM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03120" y="4791456"/>
            <a:ext cx="90525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873752"/>
            <a:ext cx="8549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Investigate reversals such as Balochistan after 2014 rather than evaluating policy only from a single year's result.</a:t>
            </a:r>
            <a:endParaRPr sz="1300" b="0">
              <a:solidFill>
                <a:srgbClr val="262626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14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15. Performance Optimization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31363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3F825F"/>
                </a:solidFill>
                <a:latin typeface="Aptos"/>
              </a:rPr>
              <a:t>225.40 → 183.92 </a:t>
            </a:r>
            <a:r>
              <a:rPr sz="2400" b="1" dirty="0" err="1">
                <a:solidFill>
                  <a:srgbClr val="3F825F"/>
                </a:solidFill>
                <a:latin typeface="Aptos"/>
              </a:rPr>
              <a:t>ms</a:t>
            </a:r>
            <a:endParaRPr sz="2400" b="1" dirty="0">
              <a:solidFill>
                <a:srgbClr val="3F825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8408" y="1993392"/>
            <a:ext cx="298094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District page average processing time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50876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F825F"/>
                </a:solidFill>
                <a:latin typeface="Aptos"/>
              </a:rPr>
              <a:t>3,381 → 2,391 ms</a:t>
            </a:r>
            <a:endParaRPr sz="2400" b="1">
              <a:solidFill>
                <a:srgbClr val="3F825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0288" y="1993392"/>
            <a:ext cx="298094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District page total processing time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508760"/>
            <a:ext cx="31363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365F91"/>
                </a:solidFill>
                <a:latin typeface="Aptos"/>
              </a:rPr>
              <a:t>214.78 → 202.28 </a:t>
            </a:r>
            <a:r>
              <a:rPr sz="2400" b="1" dirty="0" err="1">
                <a:solidFill>
                  <a:srgbClr val="365F91"/>
                </a:solidFill>
                <a:latin typeface="Aptos"/>
              </a:rPr>
              <a:t>ms</a:t>
            </a:r>
            <a:endParaRPr sz="2400" b="1" dirty="0">
              <a:solidFill>
                <a:srgbClr val="365F9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2168" y="1993392"/>
            <a:ext cx="298094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Executive Governance average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Reduced unnecessary visual processing and consolidated report elements.</a:t>
            </a:r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Used Performance Analyzer to identify expensive visuals/queries.</a:t>
            </a:r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Kept analytical visuals required for decision-making while improving responsiveness.</a:t>
            </a:r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• Before/after performance evidence was documented in the project workbook.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16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449"/>
                </a:solidFill>
                <a:latin typeface="Aptos"/>
              </a:rPr>
              <a:t>16. Expected Business &amp; Policy Impact</a:t>
            </a:r>
            <a:endParaRPr sz="28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600200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65F91"/>
                </a:solidFill>
                <a:latin typeface="Aptos"/>
              </a:rPr>
              <a:t>Faster</a:t>
            </a:r>
            <a:endParaRPr sz="2400" b="1">
              <a:solidFill>
                <a:srgbClr val="365F9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2084832"/>
            <a:ext cx="220370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Identify priority regions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20439" y="146304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600200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F825F"/>
                </a:solidFill>
                <a:latin typeface="Aptos"/>
              </a:rPr>
              <a:t>Clearer</a:t>
            </a:r>
            <a:endParaRPr sz="2400" b="1">
              <a:solidFill>
                <a:srgbClr val="3F825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75887" y="2084832"/>
            <a:ext cx="220370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Translate KPIs into insights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00200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9138"/>
                </a:solidFill>
                <a:latin typeface="Aptos"/>
              </a:rPr>
              <a:t>Targeted</a:t>
            </a:r>
            <a:endParaRPr sz="2400" b="1">
              <a:solidFill>
                <a:srgbClr val="E6913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4807" y="2084832"/>
            <a:ext cx="220370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Allocate resources by need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98280" y="146304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1600200"/>
            <a:ext cx="2203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3449"/>
                </a:solidFill>
                <a:latin typeface="Aptos"/>
              </a:rPr>
              <a:t>Repeatable</a:t>
            </a:r>
            <a:endParaRPr sz="24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53728" y="2084832"/>
            <a:ext cx="220370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Monitor trends over time</a:t>
            </a:r>
            <a:endParaRPr sz="11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rPr dirty="0"/>
              <a:t>• Reduce the time required to locate high-risk districts across multiple indicators.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rPr dirty="0"/>
              <a:t>• Support evidence-based resource allocation instead of relying only on aggregate provincial averages.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rPr dirty="0"/>
              <a:t>• Create a repeatable reporting structure for monitoring education performance.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rPr dirty="0"/>
              <a:t>• Improve communication between analytical evidence and policy recommendations.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17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17. Conclusion</a:t>
            </a:r>
            <a:endParaRPr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8394" y="1600200"/>
            <a:ext cx="9431605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Data → Gaps → Evidence → Priority Regions → Government Action</a:t>
            </a:r>
            <a:endParaRPr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dirty="0">
                <a:solidFill>
                  <a:srgbClr val="E69138"/>
                </a:solidFill>
                <a:latin typeface="Aptos"/>
              </a:rPr>
              <a:t>THANK YOU</a:t>
            </a:r>
            <a:endParaRPr sz="2600" b="1" dirty="0">
              <a:solidFill>
                <a:srgbClr val="E6913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ptos"/>
              </a:rPr>
              <a:t>Fixing the Gaps • BI Capstone Project</a:t>
            </a:r>
            <a:endParaRPr sz="900" b="0">
              <a:solidFill>
                <a:srgbClr val="5F5F5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F3449"/>
                </a:solidFill>
                <a:latin typeface="Aptos"/>
              </a:rPr>
              <a:t>18</a:t>
            </a:r>
            <a:endParaRPr sz="900" b="1">
              <a:solidFill>
                <a:srgbClr val="1F344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1004" y="2187397"/>
            <a:ext cx="10156594" cy="31854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solution combines education, infrastructure, geography and contextual indicators into one decision-support environment.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analysis demonstrates significant regional variation and identifies specific high-priority districts.</a:t>
            </a:r>
            <a:endParaRPr lang="en-US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Kohistan is a clear multi-indicator intervention case; Sindh and </a:t>
            </a:r>
            <a:r>
              <a:rPr lang="en-US"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Balochistan</a:t>
            </a:r>
            <a:r>
              <a:rPr 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contain districts requiring targeted support.</a:t>
            </a:r>
            <a:endParaRPr lang="en-US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AutoNum type="arabicPeriod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dashboard helps stakeholders move from observing performance to deciding where action is needed.</a:t>
            </a:r>
            <a:endParaRPr lang="en-US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9325</Words>
  <Application>WPS Presentation</Application>
  <PresentationFormat>Custom</PresentationFormat>
  <Paragraphs>467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Wingdings 3</vt:lpstr>
      <vt:lpstr>Arial</vt:lpstr>
      <vt:lpstr>Aptos</vt:lpstr>
      <vt:lpstr>Segoe UI</vt:lpstr>
      <vt:lpstr>Trebuchet MS</vt:lpstr>
      <vt:lpstr>Microsoft YaHei</vt:lpstr>
      <vt:lpstr>Arial Unicode MS</vt:lpstr>
      <vt:lpstr>Calibri</vt:lpstr>
      <vt:lpstr>Facet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Shoaib-WPC</dc:creator>
  <dc:description>generated using python-pptx</dc:description>
  <cp:lastModifiedBy>lenovo</cp:lastModifiedBy>
  <cp:revision>245</cp:revision>
  <dcterms:created xsi:type="dcterms:W3CDTF">2013-01-27T09:14:00Z</dcterms:created>
  <dcterms:modified xsi:type="dcterms:W3CDTF">2026-09-07T08:58:32Z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F0168C1EBD7B4F97B50A63A746803E60_13</vt:lpwstr>
  </property>
</Properties>
</file>