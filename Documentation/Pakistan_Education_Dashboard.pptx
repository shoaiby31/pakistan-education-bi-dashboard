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778240" y="-1828800"/>
            <a:ext cx="4937760" cy="4937760"/>
          </a:xfrm>
          <a:prstGeom prst="ellipse">
            <a:avLst/>
          </a:prstGeom>
          <a:solidFill>
            <a:srgbClr val="263075"/>
          </a:solidFill>
          <a:ln/>
        </p:spPr>
      </p:sp>
      <p:sp>
        <p:nvSpPr>
          <p:cNvPr id="3" name="Shape 1"/>
          <p:cNvSpPr/>
          <p:nvPr/>
        </p:nvSpPr>
        <p:spPr>
          <a:xfrm>
            <a:off x="10424160" y="4663440"/>
            <a:ext cx="2743200" cy="2743200"/>
          </a:xfrm>
          <a:prstGeom prst="ellipse">
            <a:avLst/>
          </a:prstGeom>
          <a:solidFill>
            <a:srgbClr val="E8A33D"/>
          </a:solidFill>
          <a:ln/>
        </p:spPr>
      </p:sp>
      <p:sp>
        <p:nvSpPr>
          <p:cNvPr id="4" name="Shape 2"/>
          <p:cNvSpPr/>
          <p:nvPr/>
        </p:nvSpPr>
        <p:spPr>
          <a:xfrm>
            <a:off x="-1463040" y="4206240"/>
            <a:ext cx="3291840" cy="3291840"/>
          </a:xfrm>
          <a:prstGeom prst="ellipse">
            <a:avLst/>
          </a:prstGeom>
          <a:solidFill>
            <a:srgbClr val="263075"/>
          </a:solidFill>
          <a:ln/>
        </p:spPr>
      </p:sp>
      <p:sp>
        <p:nvSpPr>
          <p:cNvPr id="5" name="Text 3"/>
          <p:cNvSpPr/>
          <p:nvPr/>
        </p:nvSpPr>
        <p:spPr>
          <a:xfrm>
            <a:off x="548640" y="502920"/>
            <a:ext cx="9144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2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EMPLOYABLE DIGITAL SKILLS INITIATIVE FOR YOUTH — KP-EDSIY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548640" y="2331720"/>
            <a:ext cx="96012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Business Intelligence</a:t>
            </a:r>
            <a:endParaRPr lang="en-US" sz="4000" dirty="0"/>
          </a:p>
        </p:txBody>
      </p:sp>
      <p:sp>
        <p:nvSpPr>
          <p:cNvPr id="7" name="Text 5"/>
          <p:cNvSpPr/>
          <p:nvPr/>
        </p:nvSpPr>
        <p:spPr>
          <a:xfrm>
            <a:off x="548640" y="3063240"/>
            <a:ext cx="10515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E8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Capstone Documentation &amp; Insight Development — Session 6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548640" y="3566160"/>
            <a:ext cx="9601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C7CC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Report Structure  •  Insight Writing  •  Executive Summary  •  Recommendations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566928" y="4078224"/>
            <a:ext cx="4023360" cy="0"/>
          </a:xfrm>
          <a:prstGeom prst="line">
            <a:avLst/>
          </a:prstGeom>
          <a:noFill/>
          <a:ln w="19050">
            <a:solidFill>
              <a:srgbClr val="E8A33D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66928" y="4370832"/>
            <a:ext cx="1371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00" kern="0" dirty="0">
                <a:solidFill>
                  <a:srgbClr val="E8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DATE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1965960" y="4370832"/>
            <a:ext cx="5486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Monday, 24 August 2026</a:t>
            </a:r>
            <a:endParaRPr lang="en-US" sz="1250" dirty="0"/>
          </a:p>
        </p:txBody>
      </p:sp>
      <p:sp>
        <p:nvSpPr>
          <p:cNvPr id="12" name="Text 10"/>
          <p:cNvSpPr/>
          <p:nvPr/>
        </p:nvSpPr>
        <p:spPr>
          <a:xfrm>
            <a:off x="566928" y="4754880"/>
            <a:ext cx="1371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00" kern="0" dirty="0">
                <a:solidFill>
                  <a:srgbClr val="E8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TIME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1965960" y="4754880"/>
            <a:ext cx="5486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10:30 AM – 2:30 PM  (4 Contact Hours)</a:t>
            </a:r>
            <a:endParaRPr lang="en-US" sz="1250" dirty="0"/>
          </a:p>
        </p:txBody>
      </p:sp>
      <p:sp>
        <p:nvSpPr>
          <p:cNvPr id="14" name="Text 12"/>
          <p:cNvSpPr/>
          <p:nvPr/>
        </p:nvSpPr>
        <p:spPr>
          <a:xfrm>
            <a:off x="566928" y="5138928"/>
            <a:ext cx="1371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00" kern="0" dirty="0">
                <a:solidFill>
                  <a:srgbClr val="E8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TRAINER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1965960" y="5138928"/>
            <a:ext cx="5486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Mr. Obaidullah Miakhil</a:t>
            </a:r>
            <a:endParaRPr lang="en-US" sz="1250" dirty="0"/>
          </a:p>
        </p:txBody>
      </p:sp>
      <p:sp>
        <p:nvSpPr>
          <p:cNvPr id="16" name="Text 14"/>
          <p:cNvSpPr/>
          <p:nvPr/>
        </p:nvSpPr>
        <p:spPr>
          <a:xfrm>
            <a:off x="566928" y="5522976"/>
            <a:ext cx="1371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00" kern="0" dirty="0">
                <a:solidFill>
                  <a:srgbClr val="E8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VENUE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1965960" y="5522976"/>
            <a:ext cx="5486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PAF-IAST</a:t>
            </a:r>
            <a:endParaRPr lang="en-US" sz="12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11480" y="365760"/>
            <a:ext cx="2103120" cy="329184"/>
          </a:xfrm>
          <a:prstGeom prst="roundRect">
            <a:avLst>
              <a:gd name="adj" fmla="val 22222"/>
            </a:avLst>
          </a:prstGeom>
          <a:solidFill>
            <a:srgbClr val="1E2761"/>
          </a:solidFill>
          <a:ln/>
        </p:spPr>
      </p:sp>
      <p:sp>
        <p:nvSpPr>
          <p:cNvPr id="3" name="Text 1"/>
          <p:cNvSpPr/>
          <p:nvPr/>
        </p:nvSpPr>
        <p:spPr>
          <a:xfrm>
            <a:off x="411480" y="365760"/>
            <a:ext cx="21031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spc="1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SESSION SNAPSHOT</a:t>
            </a:r>
            <a:endParaRPr lang="en-US" sz="1050" dirty="0"/>
          </a:p>
        </p:txBody>
      </p:sp>
      <p:sp>
        <p:nvSpPr>
          <p:cNvPr id="4" name="Text 2"/>
          <p:cNvSpPr/>
          <p:nvPr/>
        </p:nvSpPr>
        <p:spPr>
          <a:xfrm>
            <a:off x="411480" y="786384"/>
            <a:ext cx="9144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Today's Agenda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411480" y="1298448"/>
            <a:ext cx="10972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E769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Module: Capstone Documentation &amp; Insight Development  |  Week 09–10, Session 6 of 6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411480" y="1874520"/>
            <a:ext cx="2697480" cy="2788920"/>
          </a:xfrm>
          <a:prstGeom prst="roundRect">
            <a:avLst>
              <a:gd name="adj" fmla="val 2034"/>
            </a:avLst>
          </a:prstGeom>
          <a:solidFill>
            <a:srgbClr val="FFFFFF"/>
          </a:solidFill>
          <a:ln w="12700">
            <a:solidFill>
              <a:srgbClr val="E1E6F0"/>
            </a:solidFill>
            <a:prstDash val="solid"/>
          </a:ln>
          <a:effectLst>
            <a:outerShdw sx="100000" sy="100000" kx="0" ky="0" algn="bl" rotWithShape="0" blurRad="76200" dist="25400" dir="5400000">
              <a:srgbClr val="9AA5C0">
                <a:alpha val="25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1449324" y="2148840"/>
            <a:ext cx="621792" cy="621792"/>
          </a:xfrm>
          <a:prstGeom prst="ellipse">
            <a:avLst/>
          </a:prstGeom>
          <a:solidFill>
            <a:srgbClr val="E8A33D"/>
          </a:solidFill>
          <a:ln/>
        </p:spPr>
      </p:sp>
      <p:sp>
        <p:nvSpPr>
          <p:cNvPr id="8" name="Text 6"/>
          <p:cNvSpPr/>
          <p:nvPr/>
        </p:nvSpPr>
        <p:spPr>
          <a:xfrm>
            <a:off x="1449324" y="2148840"/>
            <a:ext cx="621792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2000" dirty="0"/>
          </a:p>
        </p:txBody>
      </p:sp>
      <p:sp>
        <p:nvSpPr>
          <p:cNvPr id="9" name="Text 7"/>
          <p:cNvSpPr/>
          <p:nvPr/>
        </p:nvSpPr>
        <p:spPr>
          <a:xfrm>
            <a:off x="502920" y="2898648"/>
            <a:ext cx="2514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Hour 1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1257300" y="3246120"/>
            <a:ext cx="1005840" cy="256032"/>
          </a:xfrm>
          <a:prstGeom prst="roundRect">
            <a:avLst>
              <a:gd name="adj" fmla="val 50000"/>
            </a:avLst>
          </a:prstGeom>
          <a:solidFill>
            <a:srgbClr val="CADCFC"/>
          </a:solidFill>
          <a:ln/>
        </p:spPr>
      </p:sp>
      <p:sp>
        <p:nvSpPr>
          <p:cNvPr id="11" name="Text 9"/>
          <p:cNvSpPr/>
          <p:nvPr/>
        </p:nvSpPr>
        <p:spPr>
          <a:xfrm>
            <a:off x="1257300" y="3246120"/>
            <a:ext cx="1005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50" kern="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LECTURE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557784" y="3630168"/>
            <a:ext cx="2404872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50" dirty="0">
                <a:solidFill>
                  <a:srgbClr val="3A3F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Structure of BI project documentation; writing business insights; linking data analysis to decision-making; preparing executive summaries and recommendations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3310128" y="1874520"/>
            <a:ext cx="2697480" cy="2788920"/>
          </a:xfrm>
          <a:prstGeom prst="roundRect">
            <a:avLst>
              <a:gd name="adj" fmla="val 2034"/>
            </a:avLst>
          </a:prstGeom>
          <a:solidFill>
            <a:srgbClr val="FFFFFF"/>
          </a:solidFill>
          <a:ln w="12700">
            <a:solidFill>
              <a:srgbClr val="E1E6F0"/>
            </a:solidFill>
            <a:prstDash val="solid"/>
          </a:ln>
          <a:effectLst>
            <a:outerShdw sx="100000" sy="100000" kx="0" ky="0" algn="bl" rotWithShape="0" blurRad="76200" dist="25400" dir="5400000">
              <a:srgbClr val="9AA5C0">
                <a:alpha val="25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4347972" y="2148840"/>
            <a:ext cx="621792" cy="621792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15" name="Text 13"/>
          <p:cNvSpPr/>
          <p:nvPr/>
        </p:nvSpPr>
        <p:spPr>
          <a:xfrm>
            <a:off x="4347972" y="2148840"/>
            <a:ext cx="621792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2000" dirty="0"/>
          </a:p>
        </p:txBody>
      </p:sp>
      <p:sp>
        <p:nvSpPr>
          <p:cNvPr id="16" name="Text 14"/>
          <p:cNvSpPr/>
          <p:nvPr/>
        </p:nvSpPr>
        <p:spPr>
          <a:xfrm>
            <a:off x="3401568" y="2898648"/>
            <a:ext cx="2514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Hour 2</a:t>
            </a:r>
            <a:endParaRPr lang="en-US" sz="1500" dirty="0"/>
          </a:p>
        </p:txBody>
      </p:sp>
      <p:sp>
        <p:nvSpPr>
          <p:cNvPr id="17" name="Shape 15"/>
          <p:cNvSpPr/>
          <p:nvPr/>
        </p:nvSpPr>
        <p:spPr>
          <a:xfrm>
            <a:off x="4155948" y="3246120"/>
            <a:ext cx="1005840" cy="256032"/>
          </a:xfrm>
          <a:prstGeom prst="roundRect">
            <a:avLst>
              <a:gd name="adj" fmla="val 50000"/>
            </a:avLst>
          </a:prstGeom>
          <a:solidFill>
            <a:srgbClr val="FDECD3"/>
          </a:solidFill>
          <a:ln/>
        </p:spPr>
      </p:sp>
      <p:sp>
        <p:nvSpPr>
          <p:cNvPr id="18" name="Text 16"/>
          <p:cNvSpPr/>
          <p:nvPr/>
        </p:nvSpPr>
        <p:spPr>
          <a:xfrm>
            <a:off x="4155948" y="3246120"/>
            <a:ext cx="1005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50" kern="0" dirty="0">
                <a:solidFill>
                  <a:srgbClr val="B065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LAB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3456432" y="3630168"/>
            <a:ext cx="2404872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50" dirty="0">
                <a:solidFill>
                  <a:srgbClr val="3A3F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Drafting project documentation including dataset description, data preparation steps, and modeling approach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6208776" y="1874520"/>
            <a:ext cx="2697480" cy="2788920"/>
          </a:xfrm>
          <a:prstGeom prst="roundRect">
            <a:avLst>
              <a:gd name="adj" fmla="val 2034"/>
            </a:avLst>
          </a:prstGeom>
          <a:solidFill>
            <a:srgbClr val="FFFFFF"/>
          </a:solidFill>
          <a:ln w="12700">
            <a:solidFill>
              <a:srgbClr val="E1E6F0"/>
            </a:solidFill>
            <a:prstDash val="solid"/>
          </a:ln>
          <a:effectLst>
            <a:outerShdw sx="100000" sy="100000" kx="0" ky="0" algn="bl" rotWithShape="0" blurRad="76200" dist="25400" dir="5400000">
              <a:srgbClr val="9AA5C0">
                <a:alpha val="25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7246620" y="2148840"/>
            <a:ext cx="621792" cy="621792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22" name="Text 20"/>
          <p:cNvSpPr/>
          <p:nvPr/>
        </p:nvSpPr>
        <p:spPr>
          <a:xfrm>
            <a:off x="7246620" y="2148840"/>
            <a:ext cx="621792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2000" dirty="0"/>
          </a:p>
        </p:txBody>
      </p:sp>
      <p:sp>
        <p:nvSpPr>
          <p:cNvPr id="23" name="Text 21"/>
          <p:cNvSpPr/>
          <p:nvPr/>
        </p:nvSpPr>
        <p:spPr>
          <a:xfrm>
            <a:off x="6300216" y="2898648"/>
            <a:ext cx="2514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Hour 3</a:t>
            </a:r>
            <a:endParaRPr lang="en-US" sz="1500" dirty="0"/>
          </a:p>
        </p:txBody>
      </p:sp>
      <p:sp>
        <p:nvSpPr>
          <p:cNvPr id="24" name="Shape 22"/>
          <p:cNvSpPr/>
          <p:nvPr/>
        </p:nvSpPr>
        <p:spPr>
          <a:xfrm>
            <a:off x="7054596" y="3246120"/>
            <a:ext cx="1005840" cy="256032"/>
          </a:xfrm>
          <a:prstGeom prst="roundRect">
            <a:avLst>
              <a:gd name="adj" fmla="val 50000"/>
            </a:avLst>
          </a:prstGeom>
          <a:solidFill>
            <a:srgbClr val="FDECD3"/>
          </a:solidFill>
          <a:ln/>
        </p:spPr>
      </p:sp>
      <p:sp>
        <p:nvSpPr>
          <p:cNvPr id="25" name="Text 23"/>
          <p:cNvSpPr/>
          <p:nvPr/>
        </p:nvSpPr>
        <p:spPr>
          <a:xfrm>
            <a:off x="7054596" y="3246120"/>
            <a:ext cx="1005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50" kern="0" dirty="0">
                <a:solidFill>
                  <a:srgbClr val="B065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LAB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6355080" y="3630168"/>
            <a:ext cx="2404872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50" dirty="0">
                <a:solidFill>
                  <a:srgbClr val="3A3F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Writing key insights derived from the dashboard — trends, patterns, anomalies, performance indicators</a:t>
            </a:r>
            <a:endParaRPr lang="en-US" sz="1050" dirty="0"/>
          </a:p>
        </p:txBody>
      </p:sp>
      <p:sp>
        <p:nvSpPr>
          <p:cNvPr id="27" name="Shape 25"/>
          <p:cNvSpPr/>
          <p:nvPr/>
        </p:nvSpPr>
        <p:spPr>
          <a:xfrm>
            <a:off x="9107424" y="1874520"/>
            <a:ext cx="2697480" cy="2788920"/>
          </a:xfrm>
          <a:prstGeom prst="roundRect">
            <a:avLst>
              <a:gd name="adj" fmla="val 2034"/>
            </a:avLst>
          </a:prstGeom>
          <a:solidFill>
            <a:srgbClr val="FFFFFF"/>
          </a:solidFill>
          <a:ln w="12700">
            <a:solidFill>
              <a:srgbClr val="E1E6F0"/>
            </a:solidFill>
            <a:prstDash val="solid"/>
          </a:ln>
          <a:effectLst>
            <a:outerShdw sx="100000" sy="100000" kx="0" ky="0" algn="bl" rotWithShape="0" blurRad="76200" dist="25400" dir="5400000">
              <a:srgbClr val="9AA5C0">
                <a:alpha val="25000"/>
              </a:srgbClr>
            </a:outerShdw>
          </a:effectLst>
        </p:spPr>
      </p:sp>
      <p:sp>
        <p:nvSpPr>
          <p:cNvPr id="28" name="Shape 26"/>
          <p:cNvSpPr/>
          <p:nvPr/>
        </p:nvSpPr>
        <p:spPr>
          <a:xfrm>
            <a:off x="10145268" y="2148840"/>
            <a:ext cx="621792" cy="621792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29" name="Text 27"/>
          <p:cNvSpPr/>
          <p:nvPr/>
        </p:nvSpPr>
        <p:spPr>
          <a:xfrm>
            <a:off x="10145268" y="2148840"/>
            <a:ext cx="621792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2000" dirty="0"/>
          </a:p>
        </p:txBody>
      </p:sp>
      <p:sp>
        <p:nvSpPr>
          <p:cNvPr id="30" name="Text 28"/>
          <p:cNvSpPr/>
          <p:nvPr/>
        </p:nvSpPr>
        <p:spPr>
          <a:xfrm>
            <a:off x="9198864" y="2898648"/>
            <a:ext cx="2514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Hour 4</a:t>
            </a:r>
            <a:endParaRPr lang="en-US" sz="1500" dirty="0"/>
          </a:p>
        </p:txBody>
      </p:sp>
      <p:sp>
        <p:nvSpPr>
          <p:cNvPr id="31" name="Shape 29"/>
          <p:cNvSpPr/>
          <p:nvPr/>
        </p:nvSpPr>
        <p:spPr>
          <a:xfrm>
            <a:off x="9953244" y="3246120"/>
            <a:ext cx="1005840" cy="256032"/>
          </a:xfrm>
          <a:prstGeom prst="roundRect">
            <a:avLst>
              <a:gd name="adj" fmla="val 50000"/>
            </a:avLst>
          </a:prstGeom>
          <a:solidFill>
            <a:srgbClr val="FDECD3"/>
          </a:solidFill>
          <a:ln/>
        </p:spPr>
      </p:sp>
      <p:sp>
        <p:nvSpPr>
          <p:cNvPr id="32" name="Text 30"/>
          <p:cNvSpPr/>
          <p:nvPr/>
        </p:nvSpPr>
        <p:spPr>
          <a:xfrm>
            <a:off x="9953244" y="3246120"/>
            <a:ext cx="1005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50" kern="0" dirty="0">
                <a:solidFill>
                  <a:srgbClr val="B065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LAB</a:t>
            </a:r>
            <a:endParaRPr lang="en-US" sz="900" dirty="0"/>
          </a:p>
        </p:txBody>
      </p:sp>
      <p:sp>
        <p:nvSpPr>
          <p:cNvPr id="33" name="Text 31"/>
          <p:cNvSpPr/>
          <p:nvPr/>
        </p:nvSpPr>
        <p:spPr>
          <a:xfrm>
            <a:off x="9253728" y="3630168"/>
            <a:ext cx="2404872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50" dirty="0">
                <a:solidFill>
                  <a:srgbClr val="3A3F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Preparing business recommendations and finalizing the report for presentation; mentor feedback</a:t>
            </a:r>
            <a:endParaRPr lang="en-US" sz="1050" dirty="0"/>
          </a:p>
        </p:txBody>
      </p:sp>
      <p:sp>
        <p:nvSpPr>
          <p:cNvPr id="34" name="Text 32"/>
          <p:cNvSpPr/>
          <p:nvPr/>
        </p:nvSpPr>
        <p:spPr>
          <a:xfrm>
            <a:off x="365760" y="6528816"/>
            <a:ext cx="8686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E769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 Intelligence  |  Capstone Documentation &amp; Insight Development  |  Week 09–10, Session 6</a:t>
            </a:r>
            <a:endParaRPr lang="en-US" sz="900" dirty="0"/>
          </a:p>
        </p:txBody>
      </p:sp>
      <p:sp>
        <p:nvSpPr>
          <p:cNvPr id="35" name="Text 33"/>
          <p:cNvSpPr/>
          <p:nvPr/>
        </p:nvSpPr>
        <p:spPr>
          <a:xfrm>
            <a:off x="11338560" y="6528816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E769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900" dirty="0"/>
          </a:p>
        </p:txBody>
      </p:sp>
      <p:sp>
        <p:nvSpPr>
          <p:cNvPr id="36" name="Shape 34"/>
          <p:cNvSpPr/>
          <p:nvPr/>
        </p:nvSpPr>
        <p:spPr>
          <a:xfrm>
            <a:off x="365760" y="6473952"/>
            <a:ext cx="11457432" cy="0"/>
          </a:xfrm>
          <a:prstGeom prst="line">
            <a:avLst/>
          </a:prstGeom>
          <a:noFill/>
          <a:ln w="9525">
            <a:solidFill>
              <a:srgbClr val="E1E6F0"/>
            </a:solidFill>
            <a:prstDash val="solid"/>
          </a:ln>
        </p:spPr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11480" y="365760"/>
            <a:ext cx="2103120" cy="329184"/>
          </a:xfrm>
          <a:prstGeom prst="roundRect">
            <a:avLst>
              <a:gd name="adj" fmla="val 22222"/>
            </a:avLst>
          </a:prstGeom>
          <a:solidFill>
            <a:srgbClr val="1E2761"/>
          </a:solidFill>
          <a:ln/>
        </p:spPr>
      </p:sp>
      <p:sp>
        <p:nvSpPr>
          <p:cNvPr id="3" name="Text 1"/>
          <p:cNvSpPr/>
          <p:nvPr/>
        </p:nvSpPr>
        <p:spPr>
          <a:xfrm>
            <a:off x="411480" y="365760"/>
            <a:ext cx="21031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spc="1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OVERVIEW</a:t>
            </a:r>
            <a:endParaRPr lang="en-US" sz="1050" dirty="0"/>
          </a:p>
        </p:txBody>
      </p:sp>
      <p:sp>
        <p:nvSpPr>
          <p:cNvPr id="4" name="Text 2"/>
          <p:cNvSpPr/>
          <p:nvPr/>
        </p:nvSpPr>
        <p:spPr>
          <a:xfrm>
            <a:off x="411480" y="786384"/>
            <a:ext cx="11338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Documentation &amp; Insight Development — What You Will Achieve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411480" y="1783080"/>
            <a:ext cx="6309360" cy="4434840"/>
          </a:xfrm>
          <a:prstGeom prst="roundRect">
            <a:avLst>
              <a:gd name="adj" fmla="val 1031"/>
            </a:avLst>
          </a:prstGeom>
          <a:solidFill>
            <a:srgbClr val="F7F9FC"/>
          </a:solidFill>
          <a:ln/>
        </p:spPr>
      </p:sp>
      <p:sp>
        <p:nvSpPr>
          <p:cNvPr id="6" name="Text 4"/>
          <p:cNvSpPr/>
          <p:nvPr/>
        </p:nvSpPr>
        <p:spPr>
          <a:xfrm>
            <a:off x="685800" y="1965960"/>
            <a:ext cx="5760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By the end of today's session, learners will be able to: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713232" y="2505456"/>
            <a:ext cx="82296" cy="82296"/>
          </a:xfrm>
          <a:prstGeom prst="ellipse">
            <a:avLst/>
          </a:prstGeom>
          <a:solidFill>
            <a:srgbClr val="E8A33D"/>
          </a:solidFill>
          <a:ln/>
        </p:spPr>
      </p:sp>
      <p:sp>
        <p:nvSpPr>
          <p:cNvPr id="8" name="Text 6"/>
          <p:cNvSpPr/>
          <p:nvPr/>
        </p:nvSpPr>
        <p:spPr>
          <a:xfrm>
            <a:off x="932688" y="2423160"/>
            <a:ext cx="5532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3A3F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Structure a BI project report the way a professional analyst would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713232" y="3108960"/>
            <a:ext cx="82296" cy="82296"/>
          </a:xfrm>
          <a:prstGeom prst="ellipse">
            <a:avLst/>
          </a:prstGeom>
          <a:solidFill>
            <a:srgbClr val="E8A33D"/>
          </a:solidFill>
          <a:ln/>
        </p:spPr>
      </p:sp>
      <p:sp>
        <p:nvSpPr>
          <p:cNvPr id="10" name="Text 8"/>
          <p:cNvSpPr/>
          <p:nvPr/>
        </p:nvSpPr>
        <p:spPr>
          <a:xfrm>
            <a:off x="932688" y="3026664"/>
            <a:ext cx="5532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3A3F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Translate dashboard visuals into written, decision-ready insights</a:t>
            </a:r>
            <a:endParaRPr lang="en-US" sz="1150" dirty="0"/>
          </a:p>
        </p:txBody>
      </p:sp>
      <p:sp>
        <p:nvSpPr>
          <p:cNvPr id="11" name="Shape 9"/>
          <p:cNvSpPr/>
          <p:nvPr/>
        </p:nvSpPr>
        <p:spPr>
          <a:xfrm>
            <a:off x="713232" y="3712464"/>
            <a:ext cx="82296" cy="82296"/>
          </a:xfrm>
          <a:prstGeom prst="ellipse">
            <a:avLst/>
          </a:prstGeom>
          <a:solidFill>
            <a:srgbClr val="E8A33D"/>
          </a:solidFill>
          <a:ln/>
        </p:spPr>
      </p:sp>
      <p:sp>
        <p:nvSpPr>
          <p:cNvPr id="12" name="Text 10"/>
          <p:cNvSpPr/>
          <p:nvPr/>
        </p:nvSpPr>
        <p:spPr>
          <a:xfrm>
            <a:off x="932688" y="3630168"/>
            <a:ext cx="5532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3A3F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Document the dataset, data preparation, and modeling approach clearly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713232" y="4315968"/>
            <a:ext cx="82296" cy="82296"/>
          </a:xfrm>
          <a:prstGeom prst="ellipse">
            <a:avLst/>
          </a:prstGeom>
          <a:solidFill>
            <a:srgbClr val="E8A33D"/>
          </a:solidFill>
          <a:ln/>
        </p:spPr>
      </p:sp>
      <p:sp>
        <p:nvSpPr>
          <p:cNvPr id="14" name="Text 12"/>
          <p:cNvSpPr/>
          <p:nvPr/>
        </p:nvSpPr>
        <p:spPr>
          <a:xfrm>
            <a:off x="932688" y="4233672"/>
            <a:ext cx="5532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3A3F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Distinguish a finding (what happened) from an insight (why it matters)</a:t>
            </a:r>
            <a:endParaRPr lang="en-US" sz="1150" dirty="0"/>
          </a:p>
        </p:txBody>
      </p:sp>
      <p:sp>
        <p:nvSpPr>
          <p:cNvPr id="15" name="Shape 13"/>
          <p:cNvSpPr/>
          <p:nvPr/>
        </p:nvSpPr>
        <p:spPr>
          <a:xfrm>
            <a:off x="713232" y="4919472"/>
            <a:ext cx="82296" cy="82296"/>
          </a:xfrm>
          <a:prstGeom prst="ellipse">
            <a:avLst/>
          </a:prstGeom>
          <a:solidFill>
            <a:srgbClr val="E8A33D"/>
          </a:solidFill>
          <a:ln/>
        </p:spPr>
      </p:sp>
      <p:sp>
        <p:nvSpPr>
          <p:cNvPr id="16" name="Text 14"/>
          <p:cNvSpPr/>
          <p:nvPr/>
        </p:nvSpPr>
        <p:spPr>
          <a:xfrm>
            <a:off x="932688" y="4837176"/>
            <a:ext cx="5532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3A3F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a concise executive summary a busy stakeholder can act on</a:t>
            </a:r>
            <a:endParaRPr lang="en-US" sz="1150" dirty="0"/>
          </a:p>
        </p:txBody>
      </p:sp>
      <p:sp>
        <p:nvSpPr>
          <p:cNvPr id="17" name="Shape 15"/>
          <p:cNvSpPr/>
          <p:nvPr/>
        </p:nvSpPr>
        <p:spPr>
          <a:xfrm>
            <a:off x="713232" y="5522976"/>
            <a:ext cx="82296" cy="82296"/>
          </a:xfrm>
          <a:prstGeom prst="ellipse">
            <a:avLst/>
          </a:prstGeom>
          <a:solidFill>
            <a:srgbClr val="E8A33D"/>
          </a:solidFill>
          <a:ln/>
        </p:spPr>
      </p:sp>
      <p:sp>
        <p:nvSpPr>
          <p:cNvPr id="18" name="Text 16"/>
          <p:cNvSpPr/>
          <p:nvPr/>
        </p:nvSpPr>
        <p:spPr>
          <a:xfrm>
            <a:off x="932688" y="5440680"/>
            <a:ext cx="5532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3A3F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Turn insights into specific, actionable business recommendations</a:t>
            </a:r>
            <a:endParaRPr lang="en-US" sz="1150" dirty="0"/>
          </a:p>
        </p:txBody>
      </p:sp>
      <p:sp>
        <p:nvSpPr>
          <p:cNvPr id="19" name="Shape 17"/>
          <p:cNvSpPr/>
          <p:nvPr/>
        </p:nvSpPr>
        <p:spPr>
          <a:xfrm>
            <a:off x="6903720" y="1783080"/>
            <a:ext cx="4846320" cy="4434840"/>
          </a:xfrm>
          <a:prstGeom prst="roundRect">
            <a:avLst>
              <a:gd name="adj" fmla="val 1031"/>
            </a:avLst>
          </a:prstGeom>
          <a:solidFill>
            <a:srgbClr val="1E2761"/>
          </a:solidFill>
          <a:ln/>
        </p:spPr>
      </p:sp>
      <p:sp>
        <p:nvSpPr>
          <p:cNvPr id="20" name="Text 18"/>
          <p:cNvSpPr/>
          <p:nvPr/>
        </p:nvSpPr>
        <p:spPr>
          <a:xfrm>
            <a:off x="7178040" y="2011680"/>
            <a:ext cx="4297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00" kern="0" dirty="0">
                <a:solidFill>
                  <a:srgbClr val="E8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THIS MATTERS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7178040" y="2331720"/>
            <a:ext cx="42976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i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dashboard without documentation is a tool only you can explain.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7178040" y="3246120"/>
            <a:ext cx="274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8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7452360" y="3246120"/>
            <a:ext cx="4023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DCE1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Panels and employers judge the write-up as closely as the dashboard itself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7178040" y="3950208"/>
            <a:ext cx="274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8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7452360" y="3950208"/>
            <a:ext cx="4023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DCE1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Clear documentation makes a project reusable and defensible later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7178040" y="4654296"/>
            <a:ext cx="274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8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7452360" y="4654296"/>
            <a:ext cx="4023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DCE1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is the deliverable you will actually submit and present in Week 11–12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7178040" y="5358384"/>
            <a:ext cx="274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8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7452360" y="5358384"/>
            <a:ext cx="4023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DCE1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Writing forces you to double-check that insights are backed by the data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365760" y="6528816"/>
            <a:ext cx="8686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E769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 Intelligence  |  Capstone Documentation &amp; Insight Development  |  Week 09–10, Session 6</a:t>
            </a:r>
            <a:endParaRPr lang="en-US" sz="900" dirty="0"/>
          </a:p>
        </p:txBody>
      </p:sp>
      <p:sp>
        <p:nvSpPr>
          <p:cNvPr id="31" name="Text 29"/>
          <p:cNvSpPr/>
          <p:nvPr/>
        </p:nvSpPr>
        <p:spPr>
          <a:xfrm>
            <a:off x="11338560" y="6528816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E769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900" dirty="0"/>
          </a:p>
        </p:txBody>
      </p:sp>
      <p:sp>
        <p:nvSpPr>
          <p:cNvPr id="32" name="Shape 30"/>
          <p:cNvSpPr/>
          <p:nvPr/>
        </p:nvSpPr>
        <p:spPr>
          <a:xfrm>
            <a:off x="365760" y="6473952"/>
            <a:ext cx="11457432" cy="0"/>
          </a:xfrm>
          <a:prstGeom prst="line">
            <a:avLst/>
          </a:prstGeom>
          <a:noFill/>
          <a:ln w="9525">
            <a:solidFill>
              <a:srgbClr val="E1E6F0"/>
            </a:solidFill>
            <a:prstDash val="solid"/>
          </a:ln>
        </p:spPr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11480" y="365760"/>
            <a:ext cx="2103120" cy="329184"/>
          </a:xfrm>
          <a:prstGeom prst="roundRect">
            <a:avLst>
              <a:gd name="adj" fmla="val 22222"/>
            </a:avLst>
          </a:prstGeom>
          <a:solidFill>
            <a:srgbClr val="1E2761"/>
          </a:solidFill>
          <a:ln/>
        </p:spPr>
      </p:sp>
      <p:sp>
        <p:nvSpPr>
          <p:cNvPr id="3" name="Text 1"/>
          <p:cNvSpPr/>
          <p:nvPr/>
        </p:nvSpPr>
        <p:spPr>
          <a:xfrm>
            <a:off x="411480" y="365760"/>
            <a:ext cx="21031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spc="1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HOUR 1 · LECTURE</a:t>
            </a:r>
            <a:endParaRPr lang="en-US" sz="1050" dirty="0"/>
          </a:p>
        </p:txBody>
      </p:sp>
      <p:sp>
        <p:nvSpPr>
          <p:cNvPr id="4" name="Text 2"/>
          <p:cNvSpPr/>
          <p:nvPr/>
        </p:nvSpPr>
        <p:spPr>
          <a:xfrm>
            <a:off x="411480" y="786384"/>
            <a:ext cx="11338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Writing Insights That Drive Decisions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411480" y="1828800"/>
            <a:ext cx="3611880" cy="1536192"/>
          </a:xfrm>
          <a:prstGeom prst="roundRect">
            <a:avLst>
              <a:gd name="adj" fmla="val 2976"/>
            </a:avLst>
          </a:prstGeom>
          <a:solidFill>
            <a:srgbClr val="FFFFFF"/>
          </a:solidFill>
          <a:ln w="12700">
            <a:solidFill>
              <a:srgbClr val="E1E6F0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612648" y="2029968"/>
            <a:ext cx="384048" cy="384048"/>
          </a:xfrm>
          <a:prstGeom prst="roundRect">
            <a:avLst>
              <a:gd name="adj" fmla="val 19048"/>
            </a:avLst>
          </a:prstGeom>
          <a:solidFill>
            <a:srgbClr val="1E2761"/>
          </a:solidFill>
          <a:ln/>
        </p:spPr>
      </p:sp>
      <p:sp>
        <p:nvSpPr>
          <p:cNvPr id="7" name="Text 5"/>
          <p:cNvSpPr/>
          <p:nvPr/>
        </p:nvSpPr>
        <p:spPr>
          <a:xfrm>
            <a:off x="612648" y="202996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1124712" y="2048256"/>
            <a:ext cx="2697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Structure First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612648" y="2523744"/>
            <a:ext cx="3209544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3A3F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clear outline — context, method, findings, recommendations — beats polished prose with no structure.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4224528" y="1828800"/>
            <a:ext cx="3611880" cy="1536192"/>
          </a:xfrm>
          <a:prstGeom prst="roundRect">
            <a:avLst>
              <a:gd name="adj" fmla="val 2976"/>
            </a:avLst>
          </a:prstGeom>
          <a:solidFill>
            <a:srgbClr val="FFFFFF"/>
          </a:solidFill>
          <a:ln w="12700">
            <a:solidFill>
              <a:srgbClr val="E1E6F0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4425696" y="2029968"/>
            <a:ext cx="384048" cy="384048"/>
          </a:xfrm>
          <a:prstGeom prst="roundRect">
            <a:avLst>
              <a:gd name="adj" fmla="val 19048"/>
            </a:avLst>
          </a:prstGeom>
          <a:solidFill>
            <a:srgbClr val="1E2761"/>
          </a:solidFill>
          <a:ln/>
        </p:spPr>
      </p:sp>
      <p:sp>
        <p:nvSpPr>
          <p:cNvPr id="12" name="Text 10"/>
          <p:cNvSpPr/>
          <p:nvPr/>
        </p:nvSpPr>
        <p:spPr>
          <a:xfrm>
            <a:off x="4425696" y="202996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4937760" y="2048256"/>
            <a:ext cx="2697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Finding vs. Insight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4425696" y="2523744"/>
            <a:ext cx="3209544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3A3F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finding states what happened; an insight explains why it matters and what to do.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8037576" y="1828800"/>
            <a:ext cx="3611880" cy="1536192"/>
          </a:xfrm>
          <a:prstGeom prst="roundRect">
            <a:avLst>
              <a:gd name="adj" fmla="val 2976"/>
            </a:avLst>
          </a:prstGeom>
          <a:solidFill>
            <a:srgbClr val="FFFFFF"/>
          </a:solidFill>
          <a:ln w="12700">
            <a:solidFill>
              <a:srgbClr val="E1E6F0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8238744" y="2029968"/>
            <a:ext cx="384048" cy="384048"/>
          </a:xfrm>
          <a:prstGeom prst="roundRect">
            <a:avLst>
              <a:gd name="adj" fmla="val 19048"/>
            </a:avLst>
          </a:prstGeom>
          <a:solidFill>
            <a:srgbClr val="1E2761"/>
          </a:solidFill>
          <a:ln/>
        </p:spPr>
      </p:sp>
      <p:sp>
        <p:nvSpPr>
          <p:cNvPr id="17" name="Text 15"/>
          <p:cNvSpPr/>
          <p:nvPr/>
        </p:nvSpPr>
        <p:spPr>
          <a:xfrm>
            <a:off x="8238744" y="202996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8750808" y="2048256"/>
            <a:ext cx="2697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Lead with the Headline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8238744" y="2523744"/>
            <a:ext cx="3209544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3A3F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State the main takeaway before the supporting detail, not after.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411480" y="3566160"/>
            <a:ext cx="3611880" cy="1536192"/>
          </a:xfrm>
          <a:prstGeom prst="roundRect">
            <a:avLst>
              <a:gd name="adj" fmla="val 2976"/>
            </a:avLst>
          </a:prstGeom>
          <a:solidFill>
            <a:srgbClr val="FFFFFF"/>
          </a:solidFill>
          <a:ln w="12700">
            <a:solidFill>
              <a:srgbClr val="E1E6F0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612648" y="3767328"/>
            <a:ext cx="384048" cy="384048"/>
          </a:xfrm>
          <a:prstGeom prst="roundRect">
            <a:avLst>
              <a:gd name="adj" fmla="val 19048"/>
            </a:avLst>
          </a:prstGeom>
          <a:solidFill>
            <a:srgbClr val="1E2761"/>
          </a:solidFill>
          <a:ln/>
        </p:spPr>
      </p:sp>
      <p:sp>
        <p:nvSpPr>
          <p:cNvPr id="22" name="Text 20"/>
          <p:cNvSpPr/>
          <p:nvPr/>
        </p:nvSpPr>
        <p:spPr>
          <a:xfrm>
            <a:off x="612648" y="376732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1124712" y="3785616"/>
            <a:ext cx="2697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for the Reader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612648" y="4261104"/>
            <a:ext cx="3209544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3A3F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Executives skim; keep sentences short and specific, not technical.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4224528" y="3566160"/>
            <a:ext cx="3611880" cy="1536192"/>
          </a:xfrm>
          <a:prstGeom prst="roundRect">
            <a:avLst>
              <a:gd name="adj" fmla="val 2976"/>
            </a:avLst>
          </a:prstGeom>
          <a:solidFill>
            <a:srgbClr val="FFFFFF"/>
          </a:solidFill>
          <a:ln w="12700">
            <a:solidFill>
              <a:srgbClr val="E1E6F0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4425696" y="3767328"/>
            <a:ext cx="384048" cy="384048"/>
          </a:xfrm>
          <a:prstGeom prst="roundRect">
            <a:avLst>
              <a:gd name="adj" fmla="val 19048"/>
            </a:avLst>
          </a:prstGeom>
          <a:solidFill>
            <a:srgbClr val="1E2761"/>
          </a:solidFill>
          <a:ln/>
        </p:spPr>
      </p:sp>
      <p:sp>
        <p:nvSpPr>
          <p:cNvPr id="27" name="Text 25"/>
          <p:cNvSpPr/>
          <p:nvPr/>
        </p:nvSpPr>
        <p:spPr>
          <a:xfrm>
            <a:off x="4425696" y="376732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4937760" y="3785616"/>
            <a:ext cx="2697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 Every Claim</a:t>
            </a:r>
            <a:endParaRPr lang="en-US" sz="1300" dirty="0"/>
          </a:p>
        </p:txBody>
      </p:sp>
      <p:sp>
        <p:nvSpPr>
          <p:cNvPr id="29" name="Text 27"/>
          <p:cNvSpPr/>
          <p:nvPr/>
        </p:nvSpPr>
        <p:spPr>
          <a:xfrm>
            <a:off x="4425696" y="4261104"/>
            <a:ext cx="3209544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3A3F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insight should point to a specific visual, KPI, or number.</a:t>
            </a:r>
            <a:endParaRPr lang="en-US" sz="1000" dirty="0"/>
          </a:p>
        </p:txBody>
      </p:sp>
      <p:sp>
        <p:nvSpPr>
          <p:cNvPr id="30" name="Shape 28"/>
          <p:cNvSpPr/>
          <p:nvPr/>
        </p:nvSpPr>
        <p:spPr>
          <a:xfrm>
            <a:off x="8037576" y="3566160"/>
            <a:ext cx="3611880" cy="1536192"/>
          </a:xfrm>
          <a:prstGeom prst="roundRect">
            <a:avLst>
              <a:gd name="adj" fmla="val 2976"/>
            </a:avLst>
          </a:prstGeom>
          <a:solidFill>
            <a:srgbClr val="FFFFFF"/>
          </a:solidFill>
          <a:ln w="12700">
            <a:solidFill>
              <a:srgbClr val="E1E6F0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8238744" y="3767328"/>
            <a:ext cx="384048" cy="384048"/>
          </a:xfrm>
          <a:prstGeom prst="roundRect">
            <a:avLst>
              <a:gd name="adj" fmla="val 19048"/>
            </a:avLst>
          </a:prstGeom>
          <a:solidFill>
            <a:srgbClr val="1E2761"/>
          </a:solidFill>
          <a:ln/>
        </p:spPr>
      </p:sp>
      <p:sp>
        <p:nvSpPr>
          <p:cNvPr id="32" name="Text 30"/>
          <p:cNvSpPr/>
          <p:nvPr/>
        </p:nvSpPr>
        <p:spPr>
          <a:xfrm>
            <a:off x="8238744" y="376732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</a:t>
            </a:r>
            <a:endParaRPr lang="en-US" sz="1300" dirty="0"/>
          </a:p>
        </p:txBody>
      </p:sp>
      <p:sp>
        <p:nvSpPr>
          <p:cNvPr id="33" name="Text 31"/>
          <p:cNvSpPr/>
          <p:nvPr/>
        </p:nvSpPr>
        <p:spPr>
          <a:xfrm>
            <a:off x="8750808" y="3785616"/>
            <a:ext cx="2697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End with Action</a:t>
            </a:r>
            <a:endParaRPr lang="en-US" sz="1300" dirty="0"/>
          </a:p>
        </p:txBody>
      </p:sp>
      <p:sp>
        <p:nvSpPr>
          <p:cNvPr id="34" name="Text 32"/>
          <p:cNvSpPr/>
          <p:nvPr/>
        </p:nvSpPr>
        <p:spPr>
          <a:xfrm>
            <a:off x="8238744" y="4261104"/>
            <a:ext cx="3209544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3A3F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section should answer: so what should we do about this?</a:t>
            </a:r>
            <a:endParaRPr lang="en-US" sz="1000" dirty="0"/>
          </a:p>
        </p:txBody>
      </p:sp>
      <p:sp>
        <p:nvSpPr>
          <p:cNvPr id="35" name="Text 33"/>
          <p:cNvSpPr/>
          <p:nvPr/>
        </p:nvSpPr>
        <p:spPr>
          <a:xfrm>
            <a:off x="365760" y="6528816"/>
            <a:ext cx="8686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E769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 Intelligence  |  Capstone Documentation &amp; Insight Development  |  Week 09–10, Session 6</a:t>
            </a:r>
            <a:endParaRPr lang="en-US" sz="900" dirty="0"/>
          </a:p>
        </p:txBody>
      </p:sp>
      <p:sp>
        <p:nvSpPr>
          <p:cNvPr id="36" name="Text 34"/>
          <p:cNvSpPr/>
          <p:nvPr/>
        </p:nvSpPr>
        <p:spPr>
          <a:xfrm>
            <a:off x="11338560" y="6528816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E769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900" dirty="0"/>
          </a:p>
        </p:txBody>
      </p:sp>
      <p:sp>
        <p:nvSpPr>
          <p:cNvPr id="37" name="Shape 35"/>
          <p:cNvSpPr/>
          <p:nvPr/>
        </p:nvSpPr>
        <p:spPr>
          <a:xfrm>
            <a:off x="365760" y="6473952"/>
            <a:ext cx="11457432" cy="0"/>
          </a:xfrm>
          <a:prstGeom prst="line">
            <a:avLst/>
          </a:prstGeom>
          <a:noFill/>
          <a:ln w="9525">
            <a:solidFill>
              <a:srgbClr val="E1E6F0"/>
            </a:solidFill>
            <a:prstDash val="solid"/>
          </a:ln>
        </p:spPr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11480" y="365760"/>
            <a:ext cx="2103120" cy="329184"/>
          </a:xfrm>
          <a:prstGeom prst="roundRect">
            <a:avLst>
              <a:gd name="adj" fmla="val 22222"/>
            </a:avLst>
          </a:prstGeom>
          <a:solidFill>
            <a:srgbClr val="1E2761"/>
          </a:solidFill>
          <a:ln/>
        </p:spPr>
      </p:sp>
      <p:sp>
        <p:nvSpPr>
          <p:cNvPr id="3" name="Text 1"/>
          <p:cNvSpPr/>
          <p:nvPr/>
        </p:nvSpPr>
        <p:spPr>
          <a:xfrm>
            <a:off x="411480" y="365760"/>
            <a:ext cx="21031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spc="1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HOUR 1 · LECTURE</a:t>
            </a:r>
            <a:endParaRPr lang="en-US" sz="1050" dirty="0"/>
          </a:p>
        </p:txBody>
      </p:sp>
      <p:sp>
        <p:nvSpPr>
          <p:cNvPr id="4" name="Text 2"/>
          <p:cNvSpPr/>
          <p:nvPr/>
        </p:nvSpPr>
        <p:spPr>
          <a:xfrm>
            <a:off x="411480" y="786384"/>
            <a:ext cx="11338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Anatomy of a BI Report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411480" y="1783080"/>
            <a:ext cx="2724912" cy="2514600"/>
          </a:xfrm>
          <a:prstGeom prst="roundRect">
            <a:avLst>
              <a:gd name="adj" fmla="val 1818"/>
            </a:avLst>
          </a:prstGeom>
          <a:solidFill>
            <a:srgbClr val="1E2761"/>
          </a:solidFill>
          <a:ln/>
        </p:spPr>
      </p:sp>
      <p:sp>
        <p:nvSpPr>
          <p:cNvPr id="6" name="Shape 4"/>
          <p:cNvSpPr/>
          <p:nvPr/>
        </p:nvSpPr>
        <p:spPr>
          <a:xfrm>
            <a:off x="1444752" y="2057400"/>
            <a:ext cx="658368" cy="658368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7" name="Text 5"/>
          <p:cNvSpPr/>
          <p:nvPr/>
        </p:nvSpPr>
        <p:spPr>
          <a:xfrm>
            <a:off x="1444752" y="2057400"/>
            <a:ext cx="65836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548640" y="2880360"/>
            <a:ext cx="245059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Executive Summary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612648" y="3319272"/>
            <a:ext cx="2322576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EDEF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3–5 sentence headline of the whole project.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3282696" y="1783080"/>
            <a:ext cx="2724912" cy="2514600"/>
          </a:xfrm>
          <a:prstGeom prst="roundRect">
            <a:avLst>
              <a:gd name="adj" fmla="val 1818"/>
            </a:avLst>
          </a:prstGeom>
          <a:solidFill>
            <a:srgbClr val="1C7293"/>
          </a:solidFill>
          <a:ln/>
        </p:spPr>
      </p:sp>
      <p:sp>
        <p:nvSpPr>
          <p:cNvPr id="11" name="Shape 9"/>
          <p:cNvSpPr/>
          <p:nvPr/>
        </p:nvSpPr>
        <p:spPr>
          <a:xfrm>
            <a:off x="4315968" y="2057400"/>
            <a:ext cx="658368" cy="658368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12" name="Text 10"/>
          <p:cNvSpPr/>
          <p:nvPr/>
        </p:nvSpPr>
        <p:spPr>
          <a:xfrm>
            <a:off x="4315968" y="2057400"/>
            <a:ext cx="65836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1C729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2200" dirty="0"/>
          </a:p>
        </p:txBody>
      </p:sp>
      <p:sp>
        <p:nvSpPr>
          <p:cNvPr id="13" name="Text 11"/>
          <p:cNvSpPr/>
          <p:nvPr/>
        </p:nvSpPr>
        <p:spPr>
          <a:xfrm>
            <a:off x="3419856" y="2880360"/>
            <a:ext cx="245059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Methodology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3483864" y="3319272"/>
            <a:ext cx="2322576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EDEF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sources, cleaning steps, and modeling approach.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6153912" y="1783080"/>
            <a:ext cx="2724912" cy="2514600"/>
          </a:xfrm>
          <a:prstGeom prst="roundRect">
            <a:avLst>
              <a:gd name="adj" fmla="val 1818"/>
            </a:avLst>
          </a:prstGeom>
          <a:solidFill>
            <a:srgbClr val="50808E"/>
          </a:solidFill>
          <a:ln/>
        </p:spPr>
      </p:sp>
      <p:sp>
        <p:nvSpPr>
          <p:cNvPr id="16" name="Shape 14"/>
          <p:cNvSpPr/>
          <p:nvPr/>
        </p:nvSpPr>
        <p:spPr>
          <a:xfrm>
            <a:off x="7187184" y="2057400"/>
            <a:ext cx="658368" cy="658368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17" name="Text 15"/>
          <p:cNvSpPr/>
          <p:nvPr/>
        </p:nvSpPr>
        <p:spPr>
          <a:xfrm>
            <a:off x="7187184" y="2057400"/>
            <a:ext cx="65836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50808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2200" dirty="0"/>
          </a:p>
        </p:txBody>
      </p:sp>
      <p:sp>
        <p:nvSpPr>
          <p:cNvPr id="18" name="Text 16"/>
          <p:cNvSpPr/>
          <p:nvPr/>
        </p:nvSpPr>
        <p:spPr>
          <a:xfrm>
            <a:off x="6291072" y="2880360"/>
            <a:ext cx="245059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Insights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6355080" y="3319272"/>
            <a:ext cx="2322576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EDEF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Findings translated into clear business meaning.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9025128" y="1783080"/>
            <a:ext cx="2724912" cy="2514600"/>
          </a:xfrm>
          <a:prstGeom prst="roundRect">
            <a:avLst>
              <a:gd name="adj" fmla="val 1818"/>
            </a:avLst>
          </a:prstGeom>
          <a:solidFill>
            <a:srgbClr val="6D2E46"/>
          </a:solidFill>
          <a:ln/>
        </p:spPr>
      </p:sp>
      <p:sp>
        <p:nvSpPr>
          <p:cNvPr id="21" name="Shape 19"/>
          <p:cNvSpPr/>
          <p:nvPr/>
        </p:nvSpPr>
        <p:spPr>
          <a:xfrm>
            <a:off x="10058400" y="2057400"/>
            <a:ext cx="658368" cy="658368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22" name="Text 20"/>
          <p:cNvSpPr/>
          <p:nvPr/>
        </p:nvSpPr>
        <p:spPr>
          <a:xfrm>
            <a:off x="10058400" y="2057400"/>
            <a:ext cx="65836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6D2E4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2200" dirty="0"/>
          </a:p>
        </p:txBody>
      </p:sp>
      <p:sp>
        <p:nvSpPr>
          <p:cNvPr id="23" name="Text 21"/>
          <p:cNvSpPr/>
          <p:nvPr/>
        </p:nvSpPr>
        <p:spPr>
          <a:xfrm>
            <a:off x="9162288" y="2880360"/>
            <a:ext cx="245059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Recommendations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9226296" y="3319272"/>
            <a:ext cx="2322576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EDEF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Specific, actionable next steps tied to insights.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411480" y="4572000"/>
            <a:ext cx="11338560" cy="868680"/>
          </a:xfrm>
          <a:prstGeom prst="roundRect">
            <a:avLst>
              <a:gd name="adj" fmla="val 5263"/>
            </a:avLst>
          </a:prstGeom>
          <a:solidFill>
            <a:srgbClr val="F7F9FC"/>
          </a:solidFill>
          <a:ln/>
        </p:spPr>
      </p:sp>
      <p:sp>
        <p:nvSpPr>
          <p:cNvPr id="26" name="Text 24"/>
          <p:cNvSpPr/>
          <p:nvPr/>
        </p:nvSpPr>
        <p:spPr>
          <a:xfrm>
            <a:off x="685800" y="4718304"/>
            <a:ext cx="107899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Layout Tip:  </a:t>
            </a:r>
            <a:pPr indent="0" marL="0">
              <a:buNone/>
            </a:pPr>
            <a:r>
              <a:rPr lang="en-US" sz="1150" dirty="0">
                <a:solidFill>
                  <a:srgbClr val="3A3F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the executive summary last — you'll know exactly what to summarize once the rest of the report is done.</a:t>
            </a:r>
            <a:endParaRPr lang="en-US" sz="1150" dirty="0"/>
          </a:p>
        </p:txBody>
      </p:sp>
      <p:sp>
        <p:nvSpPr>
          <p:cNvPr id="27" name="Text 25"/>
          <p:cNvSpPr/>
          <p:nvPr/>
        </p:nvSpPr>
        <p:spPr>
          <a:xfrm>
            <a:off x="365760" y="6528816"/>
            <a:ext cx="8686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E769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 Intelligence  |  Capstone Documentation &amp; Insight Development  |  Week 09–10, Session 6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11338560" y="6528816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E769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900" dirty="0"/>
          </a:p>
        </p:txBody>
      </p:sp>
      <p:sp>
        <p:nvSpPr>
          <p:cNvPr id="29" name="Shape 27"/>
          <p:cNvSpPr/>
          <p:nvPr/>
        </p:nvSpPr>
        <p:spPr>
          <a:xfrm>
            <a:off x="365760" y="6473952"/>
            <a:ext cx="11457432" cy="0"/>
          </a:xfrm>
          <a:prstGeom prst="line">
            <a:avLst/>
          </a:prstGeom>
          <a:noFill/>
          <a:ln w="9525">
            <a:solidFill>
              <a:srgbClr val="E1E6F0"/>
            </a:solidFill>
            <a:prstDash val="solid"/>
          </a:ln>
        </p:spPr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11480" y="365760"/>
            <a:ext cx="2103120" cy="329184"/>
          </a:xfrm>
          <a:prstGeom prst="roundRect">
            <a:avLst>
              <a:gd name="adj" fmla="val 22222"/>
            </a:avLst>
          </a:prstGeom>
          <a:solidFill>
            <a:srgbClr val="1E2761"/>
          </a:solidFill>
          <a:ln/>
        </p:spPr>
      </p:sp>
      <p:sp>
        <p:nvSpPr>
          <p:cNvPr id="3" name="Text 1"/>
          <p:cNvSpPr/>
          <p:nvPr/>
        </p:nvSpPr>
        <p:spPr>
          <a:xfrm>
            <a:off x="411480" y="365760"/>
            <a:ext cx="21031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spc="1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HOUR 2 · LAB</a:t>
            </a:r>
            <a:endParaRPr lang="en-US" sz="1050" dirty="0"/>
          </a:p>
        </p:txBody>
      </p:sp>
      <p:sp>
        <p:nvSpPr>
          <p:cNvPr id="4" name="Text 2"/>
          <p:cNvSpPr/>
          <p:nvPr/>
        </p:nvSpPr>
        <p:spPr>
          <a:xfrm>
            <a:off x="411480" y="786384"/>
            <a:ext cx="11338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Drafting Project Documentation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411480" y="1298448"/>
            <a:ext cx="11338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E769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the technical backbone of your report before moving on to insights.</a:t>
            </a:r>
            <a:endParaRPr lang="en-US" sz="1300" dirty="0"/>
          </a:p>
        </p:txBody>
      </p:sp>
      <p:graphicFrame>
        <p:nvGraphicFramePr>
          <p:cNvPr id="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11480" y="1874520"/>
          <a:ext cx="11338560" cy="2286000"/>
        </p:xfrm>
        <a:graphic>
          <a:graphicData uri="http://schemas.openxmlformats.org/drawingml/2006/table">
            <a:tbl>
              <a:tblPr/>
              <a:tblGrid>
                <a:gridCol w="2651760"/>
                <a:gridCol w="3291840"/>
                <a:gridCol w="5394960"/>
              </a:tblGrid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Component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1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What to Include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1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Example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1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Dataset Description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1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3A3F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Source, size, time period, key fields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1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3A3F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Retail sales data, 12 months, 5 regions, from company ERP export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1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Data Preparation Steps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1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3A3F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Cleaning, transformations, and why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1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3A3F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Removed 340 duplicate rows; standardized date format to YYYY-MM-DD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1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Modeling Approach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1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3A3F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Star schema, key tables, relationships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1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3A3F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Star schema with Fact_Sales linked to Date, Product, and Region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1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KPI Definitions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1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3A3F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Exact formula and business meaning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1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3A3F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Growth % = (Current − Prior Revenue) / Prior Revenue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1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</a:tr>
            </a:tbl>
          </a:graphicData>
        </a:graphic>
      </p:graphicFrame>
      <p:sp>
        <p:nvSpPr>
          <p:cNvPr id="7" name="Shape 4"/>
          <p:cNvSpPr/>
          <p:nvPr/>
        </p:nvSpPr>
        <p:spPr>
          <a:xfrm>
            <a:off x="411480" y="4343400"/>
            <a:ext cx="11338560" cy="1234440"/>
          </a:xfrm>
          <a:prstGeom prst="roundRect">
            <a:avLst>
              <a:gd name="adj" fmla="val 3704"/>
            </a:avLst>
          </a:prstGeom>
          <a:solidFill>
            <a:srgbClr val="FDECD3"/>
          </a:solidFill>
          <a:ln/>
        </p:spPr>
      </p:sp>
      <p:sp>
        <p:nvSpPr>
          <p:cNvPr id="8" name="Text 5"/>
          <p:cNvSpPr/>
          <p:nvPr/>
        </p:nvSpPr>
        <p:spPr>
          <a:xfrm>
            <a:off x="685800" y="448056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i="1" dirty="0">
                <a:solidFill>
                  <a:srgbClr val="B065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Lab Task</a:t>
            </a:r>
            <a:endParaRPr lang="en-US" sz="1150" dirty="0"/>
          </a:p>
        </p:txBody>
      </p:sp>
      <p:sp>
        <p:nvSpPr>
          <p:cNvPr id="9" name="Text 6"/>
          <p:cNvSpPr/>
          <p:nvPr/>
        </p:nvSpPr>
        <p:spPr>
          <a:xfrm>
            <a:off x="685800" y="4773168"/>
            <a:ext cx="107899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3A3F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Draft the Dataset Description and Data Preparation Steps sections of your report using the components above, then move on to Modeling Approach and KPI Definitions.</a:t>
            </a:r>
            <a:endParaRPr lang="en-US" sz="1150" dirty="0"/>
          </a:p>
        </p:txBody>
      </p:sp>
      <p:sp>
        <p:nvSpPr>
          <p:cNvPr id="10" name="Text 7"/>
          <p:cNvSpPr/>
          <p:nvPr/>
        </p:nvSpPr>
        <p:spPr>
          <a:xfrm>
            <a:off x="365760" y="6528816"/>
            <a:ext cx="8686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E769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 Intelligence  |  Capstone Documentation &amp; Insight Development  |  Week 09–10, Session 6</a:t>
            </a:r>
            <a:endParaRPr lang="en-US" sz="900" dirty="0"/>
          </a:p>
        </p:txBody>
      </p:sp>
      <p:sp>
        <p:nvSpPr>
          <p:cNvPr id="11" name="Text 8"/>
          <p:cNvSpPr/>
          <p:nvPr/>
        </p:nvSpPr>
        <p:spPr>
          <a:xfrm>
            <a:off x="11338560" y="6528816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E769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900" dirty="0"/>
          </a:p>
        </p:txBody>
      </p:sp>
      <p:sp>
        <p:nvSpPr>
          <p:cNvPr id="12" name="Shape 9"/>
          <p:cNvSpPr/>
          <p:nvPr/>
        </p:nvSpPr>
        <p:spPr>
          <a:xfrm>
            <a:off x="365760" y="6473952"/>
            <a:ext cx="11457432" cy="0"/>
          </a:xfrm>
          <a:prstGeom prst="line">
            <a:avLst/>
          </a:prstGeom>
          <a:noFill/>
          <a:ln w="9525">
            <a:solidFill>
              <a:srgbClr val="E1E6F0"/>
            </a:solidFill>
            <a:prstDash val="solid"/>
          </a:ln>
        </p:spPr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11480" y="365760"/>
            <a:ext cx="2103120" cy="329184"/>
          </a:xfrm>
          <a:prstGeom prst="roundRect">
            <a:avLst>
              <a:gd name="adj" fmla="val 22222"/>
            </a:avLst>
          </a:prstGeom>
          <a:solidFill>
            <a:srgbClr val="1E2761"/>
          </a:solidFill>
          <a:ln/>
        </p:spPr>
      </p:sp>
      <p:sp>
        <p:nvSpPr>
          <p:cNvPr id="3" name="Text 1"/>
          <p:cNvSpPr/>
          <p:nvPr/>
        </p:nvSpPr>
        <p:spPr>
          <a:xfrm>
            <a:off x="411480" y="365760"/>
            <a:ext cx="21031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spc="1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HOUR 2 · LAB</a:t>
            </a:r>
            <a:endParaRPr lang="en-US" sz="1050" dirty="0"/>
          </a:p>
        </p:txBody>
      </p:sp>
      <p:sp>
        <p:nvSpPr>
          <p:cNvPr id="4" name="Text 2"/>
          <p:cNvSpPr/>
          <p:nvPr/>
        </p:nvSpPr>
        <p:spPr>
          <a:xfrm>
            <a:off x="411480" y="786384"/>
            <a:ext cx="11338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Writing Clear Methodology Notes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411480" y="1298448"/>
            <a:ext cx="11338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E769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habits that separate a professional write-up from a vague one.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411480" y="1874520"/>
            <a:ext cx="2724912" cy="1417320"/>
          </a:xfrm>
          <a:prstGeom prst="roundRect">
            <a:avLst>
              <a:gd name="adj" fmla="val 3226"/>
            </a:avLst>
          </a:prstGeom>
          <a:solidFill>
            <a:srgbClr val="1E2761"/>
          </a:solidFill>
          <a:ln/>
        </p:spPr>
      </p:sp>
      <p:sp>
        <p:nvSpPr>
          <p:cNvPr id="7" name="Text 5"/>
          <p:cNvSpPr/>
          <p:nvPr/>
        </p:nvSpPr>
        <p:spPr>
          <a:xfrm>
            <a:off x="548640" y="2103120"/>
            <a:ext cx="245059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 Specific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548640" y="2743200"/>
            <a:ext cx="245059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EDEF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Name exact fields, filters, and numbers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3282696" y="1874520"/>
            <a:ext cx="2724912" cy="1417320"/>
          </a:xfrm>
          <a:prstGeom prst="roundRect">
            <a:avLst>
              <a:gd name="adj" fmla="val 3226"/>
            </a:avLst>
          </a:prstGeom>
          <a:solidFill>
            <a:srgbClr val="1C7293"/>
          </a:solidFill>
          <a:ln/>
        </p:spPr>
      </p:sp>
      <p:sp>
        <p:nvSpPr>
          <p:cNvPr id="10" name="Text 8"/>
          <p:cNvSpPr/>
          <p:nvPr/>
        </p:nvSpPr>
        <p:spPr>
          <a:xfrm>
            <a:off x="3419856" y="2103120"/>
            <a:ext cx="245059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Explain Why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3419856" y="2743200"/>
            <a:ext cx="245059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EDEF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State the reason behind each decision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6153912" y="1874520"/>
            <a:ext cx="2724912" cy="1417320"/>
          </a:xfrm>
          <a:prstGeom prst="roundRect">
            <a:avLst>
              <a:gd name="adj" fmla="val 3226"/>
            </a:avLst>
          </a:prstGeom>
          <a:solidFill>
            <a:srgbClr val="50808E"/>
          </a:solidFill>
          <a:ln/>
        </p:spPr>
      </p:sp>
      <p:sp>
        <p:nvSpPr>
          <p:cNvPr id="13" name="Text 11"/>
          <p:cNvSpPr/>
          <p:nvPr/>
        </p:nvSpPr>
        <p:spPr>
          <a:xfrm>
            <a:off x="6291072" y="2103120"/>
            <a:ext cx="245059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Keep It Brief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6291072" y="2743200"/>
            <a:ext cx="245059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EDEF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paragraph per section is usually enough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9025128" y="1874520"/>
            <a:ext cx="2724912" cy="1417320"/>
          </a:xfrm>
          <a:prstGeom prst="roundRect">
            <a:avLst>
              <a:gd name="adj" fmla="val 3226"/>
            </a:avLst>
          </a:prstGeom>
          <a:solidFill>
            <a:srgbClr val="6D2E46"/>
          </a:solidFill>
          <a:ln/>
        </p:spPr>
      </p:sp>
      <p:sp>
        <p:nvSpPr>
          <p:cNvPr id="16" name="Text 14"/>
          <p:cNvSpPr/>
          <p:nvPr/>
        </p:nvSpPr>
        <p:spPr>
          <a:xfrm>
            <a:off x="9162288" y="2103120"/>
            <a:ext cx="245059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Plain Language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9162288" y="2743200"/>
            <a:ext cx="245059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EDEF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Avoid jargon a non-technical reader wouldn't know</a:t>
            </a:r>
            <a:endParaRPr lang="en-US" sz="1050" dirty="0"/>
          </a:p>
        </p:txBody>
      </p:sp>
      <p:sp>
        <p:nvSpPr>
          <p:cNvPr id="18" name="Shape 16"/>
          <p:cNvSpPr/>
          <p:nvPr/>
        </p:nvSpPr>
        <p:spPr>
          <a:xfrm>
            <a:off x="411480" y="3611880"/>
            <a:ext cx="11338560" cy="1965960"/>
          </a:xfrm>
          <a:prstGeom prst="roundRect">
            <a:avLst>
              <a:gd name="adj" fmla="val 2326"/>
            </a:avLst>
          </a:prstGeom>
          <a:solidFill>
            <a:srgbClr val="F7F9FC"/>
          </a:solidFill>
          <a:ln w="12700">
            <a:solidFill>
              <a:srgbClr val="E1E6F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85800" y="3776472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Common Mistakes to Avoid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685800" y="4187952"/>
            <a:ext cx="274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B065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✕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987552" y="4187952"/>
            <a:ext cx="10515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3A3F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Describing what a chart looks like instead of what it means</a:t>
            </a:r>
            <a:endParaRPr lang="en-US" sz="1150" dirty="0"/>
          </a:p>
        </p:txBody>
      </p:sp>
      <p:sp>
        <p:nvSpPr>
          <p:cNvPr id="22" name="Text 20"/>
          <p:cNvSpPr/>
          <p:nvPr/>
        </p:nvSpPr>
        <p:spPr>
          <a:xfrm>
            <a:off x="685800" y="4530852"/>
            <a:ext cx="274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B065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✕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987552" y="4530852"/>
            <a:ext cx="10515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3A3F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Listing every step you tried instead of the ones that mattered</a:t>
            </a:r>
            <a:endParaRPr lang="en-US" sz="1150" dirty="0"/>
          </a:p>
        </p:txBody>
      </p:sp>
      <p:sp>
        <p:nvSpPr>
          <p:cNvPr id="24" name="Text 22"/>
          <p:cNvSpPr/>
          <p:nvPr/>
        </p:nvSpPr>
        <p:spPr>
          <a:xfrm>
            <a:off x="685800" y="4873752"/>
            <a:ext cx="274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B065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✕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987552" y="4873752"/>
            <a:ext cx="10515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3A3F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Using vague terms like “some” or “significant” without a number</a:t>
            </a:r>
            <a:endParaRPr lang="en-US" sz="1150" dirty="0"/>
          </a:p>
        </p:txBody>
      </p:sp>
      <p:sp>
        <p:nvSpPr>
          <p:cNvPr id="26" name="Text 24"/>
          <p:cNvSpPr/>
          <p:nvPr/>
        </p:nvSpPr>
        <p:spPr>
          <a:xfrm>
            <a:off x="685800" y="5216652"/>
            <a:ext cx="274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B065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✕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987552" y="5216652"/>
            <a:ext cx="10515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3A3F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Skipping the “why” behind a modeling or cleaning decision</a:t>
            </a:r>
            <a:endParaRPr lang="en-US" sz="1150" dirty="0"/>
          </a:p>
        </p:txBody>
      </p:sp>
      <p:sp>
        <p:nvSpPr>
          <p:cNvPr id="28" name="Text 26"/>
          <p:cNvSpPr/>
          <p:nvPr/>
        </p:nvSpPr>
        <p:spPr>
          <a:xfrm>
            <a:off x="365760" y="6528816"/>
            <a:ext cx="8686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E769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 Intelligence  |  Capstone Documentation &amp; Insight Development  |  Week 09–10, Session 6</a:t>
            </a:r>
            <a:endParaRPr lang="en-US" sz="900" dirty="0"/>
          </a:p>
        </p:txBody>
      </p:sp>
      <p:sp>
        <p:nvSpPr>
          <p:cNvPr id="29" name="Text 27"/>
          <p:cNvSpPr/>
          <p:nvPr/>
        </p:nvSpPr>
        <p:spPr>
          <a:xfrm>
            <a:off x="11338560" y="6528816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E769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900" dirty="0"/>
          </a:p>
        </p:txBody>
      </p:sp>
      <p:sp>
        <p:nvSpPr>
          <p:cNvPr id="30" name="Shape 28"/>
          <p:cNvSpPr/>
          <p:nvPr/>
        </p:nvSpPr>
        <p:spPr>
          <a:xfrm>
            <a:off x="365760" y="6473952"/>
            <a:ext cx="11457432" cy="0"/>
          </a:xfrm>
          <a:prstGeom prst="line">
            <a:avLst/>
          </a:prstGeom>
          <a:noFill/>
          <a:ln w="9525">
            <a:solidFill>
              <a:srgbClr val="E1E6F0"/>
            </a:solidFill>
            <a:prstDash val="solid"/>
          </a:ln>
        </p:spPr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11480" y="365760"/>
            <a:ext cx="2103120" cy="329184"/>
          </a:xfrm>
          <a:prstGeom prst="roundRect">
            <a:avLst>
              <a:gd name="adj" fmla="val 22222"/>
            </a:avLst>
          </a:prstGeom>
          <a:solidFill>
            <a:srgbClr val="1E2761"/>
          </a:solidFill>
          <a:ln/>
        </p:spPr>
      </p:sp>
      <p:sp>
        <p:nvSpPr>
          <p:cNvPr id="3" name="Text 1"/>
          <p:cNvSpPr/>
          <p:nvPr/>
        </p:nvSpPr>
        <p:spPr>
          <a:xfrm>
            <a:off x="411480" y="365760"/>
            <a:ext cx="21031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spc="1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HOUR 3 · LAB</a:t>
            </a:r>
            <a:endParaRPr lang="en-US" sz="1050" dirty="0"/>
          </a:p>
        </p:txBody>
      </p:sp>
      <p:sp>
        <p:nvSpPr>
          <p:cNvPr id="4" name="Text 2"/>
          <p:cNvSpPr/>
          <p:nvPr/>
        </p:nvSpPr>
        <p:spPr>
          <a:xfrm>
            <a:off x="411480" y="786384"/>
            <a:ext cx="11338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Writing Key Insights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411480" y="1783080"/>
            <a:ext cx="5989320" cy="4434840"/>
          </a:xfrm>
          <a:prstGeom prst="roundRect">
            <a:avLst>
              <a:gd name="adj" fmla="val 1031"/>
            </a:avLst>
          </a:prstGeom>
          <a:solidFill>
            <a:srgbClr val="FFFFFF"/>
          </a:solidFill>
          <a:ln w="12700">
            <a:solidFill>
              <a:srgbClr val="E1E6F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85800" y="196596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Finding to Insight</a:t>
            </a:r>
            <a:endParaRPr lang="en-US" sz="1350" dirty="0"/>
          </a:p>
        </p:txBody>
      </p:sp>
      <p:sp>
        <p:nvSpPr>
          <p:cNvPr id="7" name="Text 5"/>
          <p:cNvSpPr/>
          <p:nvPr/>
        </p:nvSpPr>
        <p:spPr>
          <a:xfrm>
            <a:off x="685800" y="2377440"/>
            <a:ext cx="5394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6E769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Finding: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685800" y="2633472"/>
            <a:ext cx="5394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3A3F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“Sales dropped 12% in Q3.”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685800" y="2999232"/>
            <a:ext cx="5394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6E769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Insight: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685800" y="3255264"/>
            <a:ext cx="5394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3A3F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“Sales dropped 12% in Q3, driven mainly by the North region's underperforming product line — a pattern not seen in prior quarters.”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685800" y="4114800"/>
            <a:ext cx="1554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Trends:  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2148840" y="4114800"/>
            <a:ext cx="3931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3A3F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Sustained direction over time</a:t>
            </a:r>
            <a:endParaRPr lang="en-US" sz="1050" dirty="0"/>
          </a:p>
        </p:txBody>
      </p:sp>
      <p:sp>
        <p:nvSpPr>
          <p:cNvPr id="13" name="Text 11"/>
          <p:cNvSpPr/>
          <p:nvPr/>
        </p:nvSpPr>
        <p:spPr>
          <a:xfrm>
            <a:off x="685800" y="4498848"/>
            <a:ext cx="1554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Anomalies:  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2148840" y="4498848"/>
            <a:ext cx="3931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3A3F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Unexpected spikes or drops worth flagging</a:t>
            </a:r>
            <a:endParaRPr lang="en-US" sz="1050" dirty="0"/>
          </a:p>
        </p:txBody>
      </p:sp>
      <p:sp>
        <p:nvSpPr>
          <p:cNvPr id="15" name="Text 13"/>
          <p:cNvSpPr/>
          <p:nvPr/>
        </p:nvSpPr>
        <p:spPr>
          <a:xfrm>
            <a:off x="685800" y="4882896"/>
            <a:ext cx="1554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Comparisons:  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2148840" y="4882896"/>
            <a:ext cx="3931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3A3F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one segment performs vs. another or a target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6583680" y="1783080"/>
            <a:ext cx="5166360" cy="4434840"/>
          </a:xfrm>
          <a:prstGeom prst="roundRect">
            <a:avLst>
              <a:gd name="adj" fmla="val 1031"/>
            </a:avLst>
          </a:prstGeom>
          <a:solidFill>
            <a:srgbClr val="1E2761"/>
          </a:solidFill>
          <a:ln/>
        </p:spPr>
      </p:sp>
      <p:sp>
        <p:nvSpPr>
          <p:cNvPr id="18" name="Text 16"/>
          <p:cNvSpPr/>
          <p:nvPr/>
        </p:nvSpPr>
        <p:spPr>
          <a:xfrm>
            <a:off x="6858000" y="1993392"/>
            <a:ext cx="4663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E8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Insight-Writing Checklist</a:t>
            </a:r>
            <a:endParaRPr lang="en-US" sz="1350" dirty="0"/>
          </a:p>
        </p:txBody>
      </p:sp>
      <p:sp>
        <p:nvSpPr>
          <p:cNvPr id="19" name="Shape 17"/>
          <p:cNvSpPr/>
          <p:nvPr/>
        </p:nvSpPr>
        <p:spPr>
          <a:xfrm>
            <a:off x="6903720" y="2542032"/>
            <a:ext cx="82296" cy="82296"/>
          </a:xfrm>
          <a:prstGeom prst="ellipse">
            <a:avLst/>
          </a:prstGeom>
          <a:solidFill>
            <a:srgbClr val="E8A33D"/>
          </a:solidFill>
          <a:ln/>
        </p:spPr>
      </p:sp>
      <p:sp>
        <p:nvSpPr>
          <p:cNvPr id="20" name="Text 18"/>
          <p:cNvSpPr/>
          <p:nvPr/>
        </p:nvSpPr>
        <p:spPr>
          <a:xfrm>
            <a:off x="7114032" y="2468880"/>
            <a:ext cx="4434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DCE1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States what happened, using a specific number or percentage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6903720" y="3255264"/>
            <a:ext cx="82296" cy="82296"/>
          </a:xfrm>
          <a:prstGeom prst="ellipse">
            <a:avLst/>
          </a:prstGeom>
          <a:solidFill>
            <a:srgbClr val="E8A33D"/>
          </a:solidFill>
          <a:ln/>
        </p:spPr>
      </p:sp>
      <p:sp>
        <p:nvSpPr>
          <p:cNvPr id="22" name="Text 20"/>
          <p:cNvSpPr/>
          <p:nvPr/>
        </p:nvSpPr>
        <p:spPr>
          <a:xfrm>
            <a:off x="7114032" y="3182112"/>
            <a:ext cx="4434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DCE1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Explains why it happened or what's driving it, where possible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6903720" y="3968496"/>
            <a:ext cx="82296" cy="82296"/>
          </a:xfrm>
          <a:prstGeom prst="ellipse">
            <a:avLst/>
          </a:prstGeom>
          <a:solidFill>
            <a:srgbClr val="E8A33D"/>
          </a:solidFill>
          <a:ln/>
        </p:spPr>
      </p:sp>
      <p:sp>
        <p:nvSpPr>
          <p:cNvPr id="24" name="Text 22"/>
          <p:cNvSpPr/>
          <p:nvPr/>
        </p:nvSpPr>
        <p:spPr>
          <a:xfrm>
            <a:off x="7114032" y="3895344"/>
            <a:ext cx="4434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DCE1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Names a specific segment, time period, or category — not “overall”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6903720" y="4681728"/>
            <a:ext cx="82296" cy="82296"/>
          </a:xfrm>
          <a:prstGeom prst="ellipse">
            <a:avLst/>
          </a:prstGeom>
          <a:solidFill>
            <a:srgbClr val="E8A33D"/>
          </a:solidFill>
          <a:ln/>
        </p:spPr>
      </p:sp>
      <p:sp>
        <p:nvSpPr>
          <p:cNvPr id="26" name="Text 24"/>
          <p:cNvSpPr/>
          <p:nvPr/>
        </p:nvSpPr>
        <p:spPr>
          <a:xfrm>
            <a:off x="7114032" y="4608576"/>
            <a:ext cx="4434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DCE1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Connects to a business objective or KPI from the project outline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6903720" y="5394960"/>
            <a:ext cx="82296" cy="82296"/>
          </a:xfrm>
          <a:prstGeom prst="ellipse">
            <a:avLst/>
          </a:prstGeom>
          <a:solidFill>
            <a:srgbClr val="E8A33D"/>
          </a:solidFill>
          <a:ln/>
        </p:spPr>
      </p:sp>
      <p:sp>
        <p:nvSpPr>
          <p:cNvPr id="28" name="Text 26"/>
          <p:cNvSpPr/>
          <p:nvPr/>
        </p:nvSpPr>
        <p:spPr>
          <a:xfrm>
            <a:off x="7114032" y="5321808"/>
            <a:ext cx="4434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DCE1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 short enough to read in under 15 seconds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365760" y="6528816"/>
            <a:ext cx="8686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E769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 Intelligence  |  Capstone Documentation &amp; Insight Development  |  Week 09–10, Session 6</a:t>
            </a:r>
            <a:endParaRPr lang="en-US" sz="900" dirty="0"/>
          </a:p>
        </p:txBody>
      </p:sp>
      <p:sp>
        <p:nvSpPr>
          <p:cNvPr id="30" name="Text 28"/>
          <p:cNvSpPr/>
          <p:nvPr/>
        </p:nvSpPr>
        <p:spPr>
          <a:xfrm>
            <a:off x="11338560" y="6528816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E769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900" dirty="0"/>
          </a:p>
        </p:txBody>
      </p:sp>
      <p:sp>
        <p:nvSpPr>
          <p:cNvPr id="31" name="Shape 29"/>
          <p:cNvSpPr/>
          <p:nvPr/>
        </p:nvSpPr>
        <p:spPr>
          <a:xfrm>
            <a:off x="365760" y="6473952"/>
            <a:ext cx="11457432" cy="0"/>
          </a:xfrm>
          <a:prstGeom prst="line">
            <a:avLst/>
          </a:prstGeom>
          <a:noFill/>
          <a:ln w="9525">
            <a:solidFill>
              <a:srgbClr val="E1E6F0"/>
            </a:solidFill>
            <a:prstDash val="solid"/>
          </a:ln>
        </p:spPr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11480" y="365760"/>
            <a:ext cx="2103120" cy="329184"/>
          </a:xfrm>
          <a:prstGeom prst="roundRect">
            <a:avLst>
              <a:gd name="adj" fmla="val 22222"/>
            </a:avLst>
          </a:prstGeom>
          <a:solidFill>
            <a:srgbClr val="1E2761"/>
          </a:solidFill>
          <a:ln/>
        </p:spPr>
      </p:sp>
      <p:sp>
        <p:nvSpPr>
          <p:cNvPr id="3" name="Text 1"/>
          <p:cNvSpPr/>
          <p:nvPr/>
        </p:nvSpPr>
        <p:spPr>
          <a:xfrm>
            <a:off x="411480" y="365760"/>
            <a:ext cx="21031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spc="1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HOUR 4 · LAB</a:t>
            </a:r>
            <a:endParaRPr lang="en-US" sz="1050" dirty="0"/>
          </a:p>
        </p:txBody>
      </p:sp>
      <p:sp>
        <p:nvSpPr>
          <p:cNvPr id="4" name="Text 2"/>
          <p:cNvSpPr/>
          <p:nvPr/>
        </p:nvSpPr>
        <p:spPr>
          <a:xfrm>
            <a:off x="411480" y="786384"/>
            <a:ext cx="11338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From Insight to Recommendation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411480" y="1298448"/>
            <a:ext cx="11338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E769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insight in your report should lead somewhere actionable.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411480" y="1874520"/>
            <a:ext cx="3611880" cy="1280160"/>
          </a:xfrm>
          <a:prstGeom prst="roundRect">
            <a:avLst>
              <a:gd name="adj" fmla="val 3571"/>
            </a:avLst>
          </a:prstGeom>
          <a:solidFill>
            <a:srgbClr val="F7F9FC"/>
          </a:solidFill>
          <a:ln w="12700">
            <a:solidFill>
              <a:srgbClr val="E1E6F0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612648" y="2075688"/>
            <a:ext cx="365760" cy="365760"/>
          </a:xfrm>
          <a:prstGeom prst="roundRect">
            <a:avLst>
              <a:gd name="adj" fmla="val 20000"/>
            </a:avLst>
          </a:prstGeom>
          <a:solidFill>
            <a:srgbClr val="E8A33D"/>
          </a:solidFill>
          <a:ln/>
        </p:spPr>
      </p:sp>
      <p:sp>
        <p:nvSpPr>
          <p:cNvPr id="8" name="Text 6"/>
          <p:cNvSpPr/>
          <p:nvPr/>
        </p:nvSpPr>
        <p:spPr>
          <a:xfrm>
            <a:off x="612648" y="2075688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1106424" y="2093976"/>
            <a:ext cx="271576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 Specific</a:t>
            </a:r>
            <a:endParaRPr lang="en-US" sz="1250" dirty="0"/>
          </a:p>
        </p:txBody>
      </p:sp>
      <p:sp>
        <p:nvSpPr>
          <p:cNvPr id="10" name="Text 8"/>
          <p:cNvSpPr/>
          <p:nvPr/>
        </p:nvSpPr>
        <p:spPr>
          <a:xfrm>
            <a:off x="612648" y="2532888"/>
            <a:ext cx="320954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3A3F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Recommend a concrete action, not a vague direction.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4224528" y="1874520"/>
            <a:ext cx="3611880" cy="1280160"/>
          </a:xfrm>
          <a:prstGeom prst="roundRect">
            <a:avLst>
              <a:gd name="adj" fmla="val 3571"/>
            </a:avLst>
          </a:prstGeom>
          <a:solidFill>
            <a:srgbClr val="F7F9FC"/>
          </a:solidFill>
          <a:ln w="12700">
            <a:solidFill>
              <a:srgbClr val="E1E6F0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4425696" y="2075688"/>
            <a:ext cx="365760" cy="365760"/>
          </a:xfrm>
          <a:prstGeom prst="roundRect">
            <a:avLst>
              <a:gd name="adj" fmla="val 20000"/>
            </a:avLst>
          </a:prstGeom>
          <a:solidFill>
            <a:srgbClr val="E8A33D"/>
          </a:solidFill>
          <a:ln/>
        </p:spPr>
      </p:sp>
      <p:sp>
        <p:nvSpPr>
          <p:cNvPr id="13" name="Text 11"/>
          <p:cNvSpPr/>
          <p:nvPr/>
        </p:nvSpPr>
        <p:spPr>
          <a:xfrm>
            <a:off x="4425696" y="2075688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4919472" y="2093976"/>
            <a:ext cx="271576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Tie to Evidence</a:t>
            </a:r>
            <a:endParaRPr lang="en-US" sz="1250" dirty="0"/>
          </a:p>
        </p:txBody>
      </p:sp>
      <p:sp>
        <p:nvSpPr>
          <p:cNvPr id="15" name="Text 13"/>
          <p:cNvSpPr/>
          <p:nvPr/>
        </p:nvSpPr>
        <p:spPr>
          <a:xfrm>
            <a:off x="4425696" y="2532888"/>
            <a:ext cx="320954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3A3F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Reference the exact insight or KPI that supports it.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8037576" y="1874520"/>
            <a:ext cx="3611880" cy="1280160"/>
          </a:xfrm>
          <a:prstGeom prst="roundRect">
            <a:avLst>
              <a:gd name="adj" fmla="val 3571"/>
            </a:avLst>
          </a:prstGeom>
          <a:solidFill>
            <a:srgbClr val="F7F9FC"/>
          </a:solidFill>
          <a:ln w="12700">
            <a:solidFill>
              <a:srgbClr val="E1E6F0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8238744" y="2075688"/>
            <a:ext cx="365760" cy="365760"/>
          </a:xfrm>
          <a:prstGeom prst="roundRect">
            <a:avLst>
              <a:gd name="adj" fmla="val 20000"/>
            </a:avLst>
          </a:prstGeom>
          <a:solidFill>
            <a:srgbClr val="E8A33D"/>
          </a:solidFill>
          <a:ln/>
        </p:spPr>
      </p:sp>
      <p:sp>
        <p:nvSpPr>
          <p:cNvPr id="18" name="Text 16"/>
          <p:cNvSpPr/>
          <p:nvPr/>
        </p:nvSpPr>
        <p:spPr>
          <a:xfrm>
            <a:off x="8238744" y="2075688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8732520" y="2093976"/>
            <a:ext cx="271576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Consider Feasibility</a:t>
            </a:r>
            <a:endParaRPr lang="en-US" sz="1250" dirty="0"/>
          </a:p>
        </p:txBody>
      </p:sp>
      <p:sp>
        <p:nvSpPr>
          <p:cNvPr id="20" name="Text 18"/>
          <p:cNvSpPr/>
          <p:nvPr/>
        </p:nvSpPr>
        <p:spPr>
          <a:xfrm>
            <a:off x="8238744" y="2532888"/>
            <a:ext cx="320954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3A3F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Recommend something the business could realistically do.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411480" y="3355848"/>
            <a:ext cx="3611880" cy="1280160"/>
          </a:xfrm>
          <a:prstGeom prst="roundRect">
            <a:avLst>
              <a:gd name="adj" fmla="val 3571"/>
            </a:avLst>
          </a:prstGeom>
          <a:solidFill>
            <a:srgbClr val="F7F9FC"/>
          </a:solidFill>
          <a:ln w="12700">
            <a:solidFill>
              <a:srgbClr val="E1E6F0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612648" y="3557016"/>
            <a:ext cx="365760" cy="365760"/>
          </a:xfrm>
          <a:prstGeom prst="roundRect">
            <a:avLst>
              <a:gd name="adj" fmla="val 20000"/>
            </a:avLst>
          </a:prstGeom>
          <a:solidFill>
            <a:srgbClr val="E8A33D"/>
          </a:solidFill>
          <a:ln/>
        </p:spPr>
      </p:sp>
      <p:sp>
        <p:nvSpPr>
          <p:cNvPr id="23" name="Text 21"/>
          <p:cNvSpPr/>
          <p:nvPr/>
        </p:nvSpPr>
        <p:spPr>
          <a:xfrm>
            <a:off x="612648" y="3557016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1106424" y="3575304"/>
            <a:ext cx="271576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Prioritize</a:t>
            </a:r>
            <a:endParaRPr lang="en-US" sz="1250" dirty="0"/>
          </a:p>
        </p:txBody>
      </p:sp>
      <p:sp>
        <p:nvSpPr>
          <p:cNvPr id="25" name="Text 23"/>
          <p:cNvSpPr/>
          <p:nvPr/>
        </p:nvSpPr>
        <p:spPr>
          <a:xfrm>
            <a:off x="612648" y="4014216"/>
            <a:ext cx="320954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3A3F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Flag which recommendation matters most if only one can be actioned.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4224528" y="3355848"/>
            <a:ext cx="3611880" cy="1280160"/>
          </a:xfrm>
          <a:prstGeom prst="roundRect">
            <a:avLst>
              <a:gd name="adj" fmla="val 3571"/>
            </a:avLst>
          </a:prstGeom>
          <a:solidFill>
            <a:srgbClr val="F7F9FC"/>
          </a:solidFill>
          <a:ln w="12700">
            <a:solidFill>
              <a:srgbClr val="E1E6F0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4425696" y="3557016"/>
            <a:ext cx="365760" cy="365760"/>
          </a:xfrm>
          <a:prstGeom prst="roundRect">
            <a:avLst>
              <a:gd name="adj" fmla="val 20000"/>
            </a:avLst>
          </a:prstGeom>
          <a:solidFill>
            <a:srgbClr val="E8A33D"/>
          </a:solidFill>
          <a:ln/>
        </p:spPr>
      </p:sp>
      <p:sp>
        <p:nvSpPr>
          <p:cNvPr id="28" name="Text 26"/>
          <p:cNvSpPr/>
          <p:nvPr/>
        </p:nvSpPr>
        <p:spPr>
          <a:xfrm>
            <a:off x="4425696" y="3557016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1300" dirty="0"/>
          </a:p>
        </p:txBody>
      </p:sp>
      <p:sp>
        <p:nvSpPr>
          <p:cNvPr id="29" name="Text 27"/>
          <p:cNvSpPr/>
          <p:nvPr/>
        </p:nvSpPr>
        <p:spPr>
          <a:xfrm>
            <a:off x="4919472" y="3575304"/>
            <a:ext cx="271576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Anticipate Questions</a:t>
            </a:r>
            <a:endParaRPr lang="en-US" sz="1250" dirty="0"/>
          </a:p>
        </p:txBody>
      </p:sp>
      <p:sp>
        <p:nvSpPr>
          <p:cNvPr id="30" name="Text 28"/>
          <p:cNvSpPr/>
          <p:nvPr/>
        </p:nvSpPr>
        <p:spPr>
          <a:xfrm>
            <a:off x="4425696" y="4014216"/>
            <a:ext cx="320954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3A3F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Note any risk or trade-off a stakeholder might ask about.</a:t>
            </a:r>
            <a:endParaRPr lang="en-US" sz="1000" dirty="0"/>
          </a:p>
        </p:txBody>
      </p:sp>
      <p:sp>
        <p:nvSpPr>
          <p:cNvPr id="31" name="Shape 29"/>
          <p:cNvSpPr/>
          <p:nvPr/>
        </p:nvSpPr>
        <p:spPr>
          <a:xfrm>
            <a:off x="8037576" y="3355848"/>
            <a:ext cx="3611880" cy="1280160"/>
          </a:xfrm>
          <a:prstGeom prst="roundRect">
            <a:avLst>
              <a:gd name="adj" fmla="val 3571"/>
            </a:avLst>
          </a:prstGeom>
          <a:solidFill>
            <a:srgbClr val="F7F9FC"/>
          </a:solidFill>
          <a:ln w="12700">
            <a:solidFill>
              <a:srgbClr val="E1E6F0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8238744" y="3557016"/>
            <a:ext cx="365760" cy="365760"/>
          </a:xfrm>
          <a:prstGeom prst="roundRect">
            <a:avLst>
              <a:gd name="adj" fmla="val 20000"/>
            </a:avLst>
          </a:prstGeom>
          <a:solidFill>
            <a:srgbClr val="E8A33D"/>
          </a:solidFill>
          <a:ln/>
        </p:spPr>
      </p:sp>
      <p:sp>
        <p:nvSpPr>
          <p:cNvPr id="33" name="Text 31"/>
          <p:cNvSpPr/>
          <p:nvPr/>
        </p:nvSpPr>
        <p:spPr>
          <a:xfrm>
            <a:off x="8238744" y="3557016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</a:t>
            </a:r>
            <a:endParaRPr lang="en-US" sz="1300" dirty="0"/>
          </a:p>
        </p:txBody>
      </p:sp>
      <p:sp>
        <p:nvSpPr>
          <p:cNvPr id="34" name="Text 32"/>
          <p:cNvSpPr/>
          <p:nvPr/>
        </p:nvSpPr>
        <p:spPr>
          <a:xfrm>
            <a:off x="8732520" y="3575304"/>
            <a:ext cx="271576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Incorporate Feedback</a:t>
            </a:r>
            <a:endParaRPr lang="en-US" sz="1250" dirty="0"/>
          </a:p>
        </p:txBody>
      </p:sp>
      <p:sp>
        <p:nvSpPr>
          <p:cNvPr id="35" name="Text 33"/>
          <p:cNvSpPr/>
          <p:nvPr/>
        </p:nvSpPr>
        <p:spPr>
          <a:xfrm>
            <a:off x="8238744" y="4014216"/>
            <a:ext cx="320954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3A3F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Revise based on mentor or peer review before finalizing.</a:t>
            </a:r>
            <a:endParaRPr lang="en-US" sz="1000" dirty="0"/>
          </a:p>
        </p:txBody>
      </p:sp>
      <p:sp>
        <p:nvSpPr>
          <p:cNvPr id="36" name="Text 34"/>
          <p:cNvSpPr/>
          <p:nvPr/>
        </p:nvSpPr>
        <p:spPr>
          <a:xfrm>
            <a:off x="365760" y="6528816"/>
            <a:ext cx="8686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E769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 Intelligence  |  Capstone Documentation &amp; Insight Development  |  Week 09–10, Session 6</a:t>
            </a:r>
            <a:endParaRPr lang="en-US" sz="900" dirty="0"/>
          </a:p>
        </p:txBody>
      </p:sp>
      <p:sp>
        <p:nvSpPr>
          <p:cNvPr id="37" name="Text 35"/>
          <p:cNvSpPr/>
          <p:nvPr/>
        </p:nvSpPr>
        <p:spPr>
          <a:xfrm>
            <a:off x="11338560" y="6528816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E769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900" dirty="0"/>
          </a:p>
        </p:txBody>
      </p:sp>
      <p:sp>
        <p:nvSpPr>
          <p:cNvPr id="38" name="Shape 36"/>
          <p:cNvSpPr/>
          <p:nvPr/>
        </p:nvSpPr>
        <p:spPr>
          <a:xfrm>
            <a:off x="365760" y="6473952"/>
            <a:ext cx="11457432" cy="0"/>
          </a:xfrm>
          <a:prstGeom prst="line">
            <a:avLst/>
          </a:prstGeom>
          <a:noFill/>
          <a:ln w="9525">
            <a:solidFill>
              <a:srgbClr val="E1E6F0"/>
            </a:solidFill>
            <a:prstDash val="solid"/>
          </a:ln>
        </p:spPr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463040" y="-2194560"/>
            <a:ext cx="4206240" cy="4206240"/>
          </a:xfrm>
          <a:prstGeom prst="ellipse">
            <a:avLst/>
          </a:prstGeom>
          <a:solidFill>
            <a:srgbClr val="263075"/>
          </a:solidFill>
          <a:ln/>
        </p:spPr>
      </p:sp>
      <p:sp>
        <p:nvSpPr>
          <p:cNvPr id="3" name="Text 1"/>
          <p:cNvSpPr/>
          <p:nvPr/>
        </p:nvSpPr>
        <p:spPr>
          <a:xfrm>
            <a:off x="566928" y="41148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20" kern="0" dirty="0">
                <a:solidFill>
                  <a:srgbClr val="E8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END OF SESSION</a:t>
            </a:r>
            <a:endParaRPr lang="en-US" sz="1050" dirty="0"/>
          </a:p>
        </p:txBody>
      </p:sp>
      <p:sp>
        <p:nvSpPr>
          <p:cNvPr id="4" name="Text 2"/>
          <p:cNvSpPr/>
          <p:nvPr/>
        </p:nvSpPr>
        <p:spPr>
          <a:xfrm>
            <a:off x="566928" y="713232"/>
            <a:ext cx="7315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Today's Deliverable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411480" y="1508760"/>
            <a:ext cx="11338560" cy="4434840"/>
          </a:xfrm>
          <a:prstGeom prst="roundRect">
            <a:avLst>
              <a:gd name="adj" fmla="val 1031"/>
            </a:avLst>
          </a:prstGeom>
          <a:solidFill>
            <a:srgbClr val="263075"/>
          </a:solidFill>
          <a:ln/>
        </p:spPr>
      </p:sp>
      <p:sp>
        <p:nvSpPr>
          <p:cNvPr id="6" name="Text 4"/>
          <p:cNvSpPr/>
          <p:nvPr/>
        </p:nvSpPr>
        <p:spPr>
          <a:xfrm>
            <a:off x="713232" y="1737360"/>
            <a:ext cx="10607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8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By the end of today, each learner should have: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749808" y="2331720"/>
            <a:ext cx="100584" cy="100584"/>
          </a:xfrm>
          <a:prstGeom prst="ellipse">
            <a:avLst/>
          </a:prstGeom>
          <a:solidFill>
            <a:srgbClr val="E8A33D"/>
          </a:solidFill>
          <a:ln/>
        </p:spPr>
      </p:sp>
      <p:sp>
        <p:nvSpPr>
          <p:cNvPr id="8" name="Text 6"/>
          <p:cNvSpPr/>
          <p:nvPr/>
        </p:nvSpPr>
        <p:spPr>
          <a:xfrm>
            <a:off x="1005840" y="2240280"/>
            <a:ext cx="10424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complete written report: dataset description, data preparation, modeling approach, and KPI definitions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749808" y="2990088"/>
            <a:ext cx="100584" cy="100584"/>
          </a:xfrm>
          <a:prstGeom prst="ellipse">
            <a:avLst/>
          </a:prstGeom>
          <a:solidFill>
            <a:srgbClr val="E8A33D"/>
          </a:solidFill>
          <a:ln/>
        </p:spPr>
      </p:sp>
      <p:sp>
        <p:nvSpPr>
          <p:cNvPr id="10" name="Text 8"/>
          <p:cNvSpPr/>
          <p:nvPr/>
        </p:nvSpPr>
        <p:spPr>
          <a:xfrm>
            <a:off x="1005840" y="2898648"/>
            <a:ext cx="10424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 least five written insights, each backed by a specific number or visual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749808" y="3648456"/>
            <a:ext cx="100584" cy="100584"/>
          </a:xfrm>
          <a:prstGeom prst="ellipse">
            <a:avLst/>
          </a:prstGeom>
          <a:solidFill>
            <a:srgbClr val="E8A33D"/>
          </a:solidFill>
          <a:ln/>
        </p:spPr>
      </p:sp>
      <p:sp>
        <p:nvSpPr>
          <p:cNvPr id="12" name="Text 10"/>
          <p:cNvSpPr/>
          <p:nvPr/>
        </p:nvSpPr>
        <p:spPr>
          <a:xfrm>
            <a:off x="1005840" y="3557016"/>
            <a:ext cx="10424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 least three specific, actionable business recommendations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749808" y="4306824"/>
            <a:ext cx="100584" cy="100584"/>
          </a:xfrm>
          <a:prstGeom prst="ellipse">
            <a:avLst/>
          </a:prstGeom>
          <a:solidFill>
            <a:srgbClr val="E8A33D"/>
          </a:solidFill>
          <a:ln/>
        </p:spPr>
      </p:sp>
      <p:sp>
        <p:nvSpPr>
          <p:cNvPr id="14" name="Text 12"/>
          <p:cNvSpPr/>
          <p:nvPr/>
        </p:nvSpPr>
        <p:spPr>
          <a:xfrm>
            <a:off x="1005840" y="4215384"/>
            <a:ext cx="10424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concise executive summary, written last, after everything else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749808" y="4965192"/>
            <a:ext cx="100584" cy="100584"/>
          </a:xfrm>
          <a:prstGeom prst="ellipse">
            <a:avLst/>
          </a:prstGeom>
          <a:solidFill>
            <a:srgbClr val="E8A33D"/>
          </a:solidFill>
          <a:ln/>
        </p:spPr>
      </p:sp>
      <p:sp>
        <p:nvSpPr>
          <p:cNvPr id="16" name="Text 14"/>
          <p:cNvSpPr/>
          <p:nvPr/>
        </p:nvSpPr>
        <p:spPr>
          <a:xfrm>
            <a:off x="1005840" y="4873752"/>
            <a:ext cx="10424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Mentor feedback received and at least one revision made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713232" y="5440680"/>
            <a:ext cx="10607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AEB6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Next: Week 11–12 — Capstone Presentation: dashboard demo, insight walkthrough, and panel evaluation.</a:t>
            </a:r>
            <a:endParaRPr lang="en-US" sz="1150" dirty="0"/>
          </a:p>
        </p:txBody>
      </p:sp>
      <p:sp>
        <p:nvSpPr>
          <p:cNvPr id="18" name="Text 16"/>
          <p:cNvSpPr/>
          <p:nvPr/>
        </p:nvSpPr>
        <p:spPr>
          <a:xfrm>
            <a:off x="365760" y="6528816"/>
            <a:ext cx="8686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E769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 Intelligence  |  Capstone Documentation &amp; Insight Development  |  Week 09–10, Session 6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11338560" y="6528816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E769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900" dirty="0"/>
          </a:p>
        </p:txBody>
      </p:sp>
      <p:sp>
        <p:nvSpPr>
          <p:cNvPr id="20" name="Shape 18"/>
          <p:cNvSpPr/>
          <p:nvPr/>
        </p:nvSpPr>
        <p:spPr>
          <a:xfrm>
            <a:off x="365760" y="6473952"/>
            <a:ext cx="11457432" cy="0"/>
          </a:xfrm>
          <a:prstGeom prst="line">
            <a:avLst/>
          </a:prstGeom>
          <a:noFill/>
          <a:ln w="9525">
            <a:solidFill>
              <a:srgbClr val="E1E6F0"/>
            </a:solidFill>
            <a:prstDash val="solid"/>
          </a:ln>
        </p:spPr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11480" y="365760"/>
            <a:ext cx="2103120" cy="329184"/>
          </a:xfrm>
          <a:prstGeom prst="roundRect">
            <a:avLst>
              <a:gd name="adj" fmla="val 22222"/>
            </a:avLst>
          </a:prstGeom>
          <a:solidFill>
            <a:srgbClr val="1E2761"/>
          </a:solidFill>
          <a:ln/>
        </p:spPr>
      </p:sp>
      <p:sp>
        <p:nvSpPr>
          <p:cNvPr id="3" name="Text 1"/>
          <p:cNvSpPr/>
          <p:nvPr/>
        </p:nvSpPr>
        <p:spPr>
          <a:xfrm>
            <a:off x="411480" y="365760"/>
            <a:ext cx="21031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spc="1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LOOKING AHEAD</a:t>
            </a:r>
            <a:endParaRPr lang="en-US" sz="1050" dirty="0"/>
          </a:p>
        </p:txBody>
      </p:sp>
      <p:sp>
        <p:nvSpPr>
          <p:cNvPr id="4" name="Text 2"/>
          <p:cNvSpPr/>
          <p:nvPr/>
        </p:nvSpPr>
        <p:spPr>
          <a:xfrm>
            <a:off x="411480" y="786384"/>
            <a:ext cx="10972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What's Next: Toward Certification</a:t>
            </a:r>
            <a:endParaRPr lang="en-US" sz="2700" dirty="0"/>
          </a:p>
        </p:txBody>
      </p:sp>
      <p:sp>
        <p:nvSpPr>
          <p:cNvPr id="5" name="Shape 3"/>
          <p:cNvSpPr/>
          <p:nvPr/>
        </p:nvSpPr>
        <p:spPr>
          <a:xfrm>
            <a:off x="411480" y="1600200"/>
            <a:ext cx="3639312" cy="50292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6" name="Text 4"/>
          <p:cNvSpPr/>
          <p:nvPr/>
        </p:nvSpPr>
        <p:spPr>
          <a:xfrm>
            <a:off x="411480" y="1600200"/>
            <a:ext cx="363931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 11–12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411480" y="2103120"/>
            <a:ext cx="3639312" cy="1508760"/>
          </a:xfrm>
          <a:prstGeom prst="rect">
            <a:avLst/>
          </a:prstGeom>
          <a:solidFill>
            <a:srgbClr val="FFFFFF"/>
          </a:solidFill>
          <a:ln w="12700">
            <a:solidFill>
              <a:srgbClr val="E1E6F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40080" y="2286000"/>
            <a:ext cx="3182112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50" dirty="0">
                <a:solidFill>
                  <a:srgbClr val="3A3F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Capstone Presentation — dashboard demo, insight walkthrough, and panel evaluation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4251960" y="1600200"/>
            <a:ext cx="3639312" cy="50292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10" name="Text 8"/>
          <p:cNvSpPr/>
          <p:nvPr/>
        </p:nvSpPr>
        <p:spPr>
          <a:xfrm>
            <a:off x="4251960" y="1600200"/>
            <a:ext cx="363931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 11–12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4251960" y="2103120"/>
            <a:ext cx="3639312" cy="1508760"/>
          </a:xfrm>
          <a:prstGeom prst="rect">
            <a:avLst/>
          </a:prstGeom>
          <a:solidFill>
            <a:srgbClr val="FFFFFF"/>
          </a:solidFill>
          <a:ln w="12700">
            <a:solidFill>
              <a:srgbClr val="E1E6F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480560" y="2286000"/>
            <a:ext cx="3182112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50" dirty="0">
                <a:solidFill>
                  <a:srgbClr val="3A3F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Final Review &amp; Certification Prep — DA-100, Tableau, freelancing guidance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8092440" y="1600200"/>
            <a:ext cx="3639312" cy="50292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14" name="Text 12"/>
          <p:cNvSpPr/>
          <p:nvPr/>
        </p:nvSpPr>
        <p:spPr>
          <a:xfrm>
            <a:off x="8092440" y="1600200"/>
            <a:ext cx="363931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Career Readiness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8092440" y="2103120"/>
            <a:ext cx="3639312" cy="1508760"/>
          </a:xfrm>
          <a:prstGeom prst="rect">
            <a:avLst/>
          </a:prstGeom>
          <a:solidFill>
            <a:srgbClr val="FFFFFF"/>
          </a:solidFill>
          <a:ln w="12700">
            <a:solidFill>
              <a:srgbClr val="E1E6F0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8321040" y="2286000"/>
            <a:ext cx="3182112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50" dirty="0">
                <a:solidFill>
                  <a:srgbClr val="3A3F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Portfolio, resume, and next steps in your BI career path</a:t>
            </a:r>
            <a:endParaRPr lang="en-US" sz="1150" dirty="0"/>
          </a:p>
        </p:txBody>
      </p:sp>
      <p:sp>
        <p:nvSpPr>
          <p:cNvPr id="17" name="Shape 15"/>
          <p:cNvSpPr/>
          <p:nvPr/>
        </p:nvSpPr>
        <p:spPr>
          <a:xfrm>
            <a:off x="411480" y="3657600"/>
            <a:ext cx="11338560" cy="914400"/>
          </a:xfrm>
          <a:prstGeom prst="roundRect">
            <a:avLst>
              <a:gd name="adj" fmla="val 5000"/>
            </a:avLst>
          </a:prstGeom>
          <a:solidFill>
            <a:srgbClr val="FDECD3"/>
          </a:solidFill>
          <a:ln/>
        </p:spPr>
      </p:sp>
      <p:sp>
        <p:nvSpPr>
          <p:cNvPr id="18" name="Text 16"/>
          <p:cNvSpPr/>
          <p:nvPr/>
        </p:nvSpPr>
        <p:spPr>
          <a:xfrm>
            <a:off x="685800" y="3785616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B065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Reminder</a:t>
            </a:r>
            <a:endParaRPr lang="en-US" sz="1150" dirty="0"/>
          </a:p>
        </p:txBody>
      </p:sp>
      <p:sp>
        <p:nvSpPr>
          <p:cNvPr id="19" name="Text 17"/>
          <p:cNvSpPr/>
          <p:nvPr/>
        </p:nvSpPr>
        <p:spPr>
          <a:xfrm>
            <a:off x="685800" y="4078224"/>
            <a:ext cx="10789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3A3F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Bring your finished documentation and dashboard file to Week 11–12 — you'll need both for your presentation rehearsal.</a:t>
            </a:r>
            <a:endParaRPr lang="en-US" sz="1150" dirty="0"/>
          </a:p>
        </p:txBody>
      </p:sp>
      <p:sp>
        <p:nvSpPr>
          <p:cNvPr id="20" name="Text 18"/>
          <p:cNvSpPr/>
          <p:nvPr/>
        </p:nvSpPr>
        <p:spPr>
          <a:xfrm>
            <a:off x="365760" y="6528816"/>
            <a:ext cx="8686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E769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 Intelligence  |  Capstone Documentation &amp; Insight Development  |  Week 09–10, Session 6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11338560" y="6528816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E769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900" dirty="0"/>
          </a:p>
        </p:txBody>
      </p:sp>
      <p:sp>
        <p:nvSpPr>
          <p:cNvPr id="22" name="Shape 20"/>
          <p:cNvSpPr/>
          <p:nvPr/>
        </p:nvSpPr>
        <p:spPr>
          <a:xfrm>
            <a:off x="365760" y="6473952"/>
            <a:ext cx="11457432" cy="0"/>
          </a:xfrm>
          <a:prstGeom prst="line">
            <a:avLst/>
          </a:prstGeom>
          <a:noFill/>
          <a:ln w="9525">
            <a:solidFill>
              <a:srgbClr val="E1E6F0"/>
            </a:solidFill>
            <a:prstDash val="solid"/>
          </a:ln>
        </p:spPr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737360" y="-2377440"/>
            <a:ext cx="4389120" cy="4389120"/>
          </a:xfrm>
          <a:prstGeom prst="ellipse">
            <a:avLst/>
          </a:prstGeom>
          <a:solidFill>
            <a:srgbClr val="263075"/>
          </a:solidFill>
          <a:ln/>
        </p:spPr>
      </p:sp>
      <p:sp>
        <p:nvSpPr>
          <p:cNvPr id="3" name="Shape 1"/>
          <p:cNvSpPr/>
          <p:nvPr/>
        </p:nvSpPr>
        <p:spPr>
          <a:xfrm>
            <a:off x="9966960" y="3931920"/>
            <a:ext cx="3657600" cy="3657600"/>
          </a:xfrm>
          <a:prstGeom prst="ellipse">
            <a:avLst/>
          </a:prstGeom>
          <a:solidFill>
            <a:srgbClr val="263075"/>
          </a:solidFill>
          <a:ln/>
        </p:spPr>
      </p:sp>
      <p:sp>
        <p:nvSpPr>
          <p:cNvPr id="4" name="Text 2"/>
          <p:cNvSpPr/>
          <p:nvPr/>
        </p:nvSpPr>
        <p:spPr>
          <a:xfrm>
            <a:off x="566928" y="2606040"/>
            <a:ext cx="73152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Thank You</a:t>
            </a:r>
            <a:endParaRPr lang="en-US" sz="4000" dirty="0"/>
          </a:p>
        </p:txBody>
      </p:sp>
      <p:sp>
        <p:nvSpPr>
          <p:cNvPr id="5" name="Text 3"/>
          <p:cNvSpPr/>
          <p:nvPr/>
        </p:nvSpPr>
        <p:spPr>
          <a:xfrm>
            <a:off x="566928" y="333756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E8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Questions &amp; Wrap-up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585216" y="3840480"/>
            <a:ext cx="2743200" cy="0"/>
          </a:xfrm>
          <a:prstGeom prst="line">
            <a:avLst/>
          </a:prstGeom>
          <a:noFill/>
          <a:ln w="19050">
            <a:solidFill>
              <a:srgbClr val="E8A33D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66928" y="406908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DCE1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Trainer: Mr. Obaidullah Miakhil</a:t>
            </a:r>
            <a:endParaRPr lang="en-US" sz="1150" dirty="0"/>
          </a:p>
        </p:txBody>
      </p:sp>
      <p:sp>
        <p:nvSpPr>
          <p:cNvPr id="8" name="Text 6"/>
          <p:cNvSpPr/>
          <p:nvPr/>
        </p:nvSpPr>
        <p:spPr>
          <a:xfrm>
            <a:off x="566928" y="4361688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DCE1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Venue: PAF-IAST</a:t>
            </a:r>
            <a:endParaRPr lang="en-US" sz="1150" dirty="0"/>
          </a:p>
        </p:txBody>
      </p:sp>
      <p:sp>
        <p:nvSpPr>
          <p:cNvPr id="9" name="Text 7"/>
          <p:cNvSpPr/>
          <p:nvPr/>
        </p:nvSpPr>
        <p:spPr>
          <a:xfrm>
            <a:off x="566928" y="4654296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DCE1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Employable Digital Skills Initiative for Youth — KP-EDSIY</a:t>
            </a:r>
            <a:endParaRPr lang="en-US" sz="11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2026-08-23T22:26:05Z</dcterms:created>
  <dcterms:modified xsi:type="dcterms:W3CDTF">2026-08-23T22:26:05Z</dcterms:modified>
</cp:coreProperties>
</file>